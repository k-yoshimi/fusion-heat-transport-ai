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0" r:id="rId13"/>
    <p:sldId id="267" r:id="rId14"/>
    <p:sldId id="268" r:id="rId15"/>
    <p:sldId id="269" r:id="rId16"/>
    <p:sldId id="271" r:id="rId17"/>
    <p:sldId id="272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9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Calibri"/>
              </a:defRPr>
            </a:pPr>
            <a:r>
              <a:t>Multi-Agent Improvement 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EA8DE"/>
                </a:solidFill>
                <a:latin typeface="Calibri"/>
              </a:defRPr>
            </a:pPr>
            <a:r>
              <a:t>Fusion Heat Transport PDE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BBCC"/>
                </a:solidFill>
                <a:latin typeface="Calibri"/>
              </a:defRPr>
            </a:pPr>
            <a:r>
              <a:t>Sequential Agent Pipeline: Pareto Analysis, Bottleneck Detection,</a:t>
            </a:r>
            <a:br/>
            <a:r>
              <a:t>Proposal Generation &amp; Multi-Perspective Evaluation</a:t>
            </a:r>
            <a:br/>
            <a:r>
              <a:t>with PHYSBO Bayesian Optimization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A8DE"/>
                </a:solidFill>
                <a:latin typeface="Calibri"/>
              </a:defRPr>
            </a:pPr>
            <a:r>
              <a:t>Problem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F43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374903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8 numerical solvers (FDM, FEM, FVM, Spectral, PINN)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Each solver has different accuracy/speed/stability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Performance varies across α, dt, nr, IC type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Manual tuning is tedious and error-prone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05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0C878"/>
                </a:solidFill>
                <a:latin typeface="Calibri"/>
              </a:defRPr>
            </a:pPr>
            <a:r>
              <a:t>Solution: Multi-Agent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463040"/>
            <a:ext cx="3931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Automated Pareto analysis across parameters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Systematic bottleneck detection (8 categories)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AI-generated improvement proposals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Multi-perspective evaluation (4 views)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9F43"/>
                </a:solidFill>
                <a:latin typeface="Cambria Math"/>
              </a:defRPr>
            </a:pPr>
            <a:r>
              <a:t>PDE: ∂T/∂t = (1/r) ∂/∂r (r χ(|∂T/∂r|) ∂T/∂r)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9F43"/>
                </a:solidFill>
                <a:latin typeface="Cambria Math"/>
              </a:defRPr>
            </a:pPr>
            <a:r>
              <a:t>χ(|T'|) = (|T'| − 0.5)^α + 0.1  (|T'| &gt; 0.5),  else χ = 0.1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A8DE"/>
                </a:solidFill>
                <a:latin typeface="Calibri"/>
              </a:defRPr>
            </a:pPr>
            <a:r>
              <a:t>Agent Architecture (Sequential Pipeline)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188720"/>
            <a:ext cx="2560320" cy="1280160"/>
          </a:xfrm>
          <a:prstGeom prst="roundRect">
            <a:avLst/>
          </a:prstGeom>
          <a:solidFill>
            <a:srgbClr val="24243E"/>
          </a:solidFill>
          <a:ln w="254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A8DE"/>
                </a:solidFill>
                <a:latin typeface="Calibri"/>
              </a:defRPr>
            </a:pPr>
            <a:r>
              <a:t>Pareto Analysis</a:t>
            </a:r>
            <a:br/>
            <a:r>
              <a:t>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23774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Parameter sweep</a:t>
            </a:r>
            <a:br/>
            <a:r>
              <a:t>PHYSBO optimization</a:t>
            </a:r>
            <a:br/>
            <a:r>
              <a:t>Pareto front computation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188720"/>
            <a:ext cx="2560320" cy="1280160"/>
          </a:xfrm>
          <a:prstGeom prst="roundRect">
            <a:avLst/>
          </a:prstGeom>
          <a:solidFill>
            <a:srgbClr val="24243E"/>
          </a:solidFill>
          <a:ln w="254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1234440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9F43"/>
                </a:solidFill>
                <a:latin typeface="Calibri"/>
              </a:defRPr>
            </a:pPr>
            <a:r>
              <a:t>Bottleneck</a:t>
            </a:r>
            <a:br/>
            <a:r>
              <a:t>Analysis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691640"/>
            <a:ext cx="23774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8 detection categories</a:t>
            </a:r>
            <a:br/>
            <a:r>
              <a:t>Severity scoring</a:t>
            </a:r>
            <a:br/>
            <a:r>
              <a:t>Affected solver mapping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188720"/>
            <a:ext cx="2560320" cy="1280160"/>
          </a:xfrm>
          <a:prstGeom prst="roundRect">
            <a:avLst/>
          </a:prstGeom>
          <a:solidFill>
            <a:srgbClr val="24243E"/>
          </a:solidFill>
          <a:ln w="25400">
            <a:solidFill>
              <a:srgbClr val="50C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0" y="1234440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50C878"/>
                </a:solidFill>
                <a:latin typeface="Calibri"/>
              </a:defRPr>
            </a:pPr>
            <a:r>
              <a:t>Proposal</a:t>
            </a:r>
            <a:br/>
            <a:r>
              <a:t>Generation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691640"/>
            <a:ext cx="23774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1-3 proposals/bottleneck</a:t>
            </a:r>
            <a:br/>
            <a:r>
              <a:t>3 proposal types</a:t>
            </a:r>
            <a:br/>
            <a:r>
              <a:t>Implementation sketches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3200400"/>
            <a:ext cx="2560320" cy="1280160"/>
          </a:xfrm>
          <a:prstGeom prst="roundRect">
            <a:avLst/>
          </a:prstGeom>
          <a:solidFill>
            <a:srgbClr val="24243E"/>
          </a:solidFill>
          <a:ln w="2540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3246120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BB86FC"/>
                </a:solidFill>
                <a:latin typeface="Calibri"/>
              </a:defRPr>
            </a:pPr>
            <a:r>
              <a:t>Evaluation Agent</a:t>
            </a:r>
            <a:br/>
            <a:r>
              <a:t>(4 Perspectives)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703320"/>
            <a:ext cx="23774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Accuracy(1.5) Speed(1.0)</a:t>
            </a:r>
            <a:br/>
            <a:r>
              <a:t>Stability(1.2) Complexity(0.8)</a:t>
            </a:r>
            <a:br/>
            <a:r>
              <a:t>Weighted scoring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3200400"/>
            <a:ext cx="2560320" cy="1280160"/>
          </a:xfrm>
          <a:prstGeom prst="roundRect">
            <a:avLst/>
          </a:prstGeom>
          <a:solidFill>
            <a:srgbClr val="24243E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91840" y="3246120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BBBBCC"/>
                </a:solidFill>
                <a:latin typeface="Calibri"/>
              </a:defRPr>
            </a:pPr>
            <a:r>
              <a:t>Review &amp;</a:t>
            </a:r>
            <a:br/>
            <a:r>
              <a:t>Implementation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703320"/>
            <a:ext cx="23774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Auto/interactive approve</a:t>
            </a:r>
            <a:br/>
            <a:r>
              <a:t>score ≥ 4.0 → approve</a:t>
            </a:r>
            <a:br/>
            <a:r>
              <a:t>Impl. sketch output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3200400"/>
            <a:ext cx="2560320" cy="1280160"/>
          </a:xfrm>
          <a:prstGeom prst="roundRect">
            <a:avLst/>
          </a:prstGeom>
          <a:solidFill>
            <a:srgbClr val="24243E"/>
          </a:solidFill>
          <a:ln w="254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0" y="3246120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A8DE"/>
                </a:solidFill>
                <a:latin typeface="Calibri"/>
              </a:defRPr>
            </a:pPr>
            <a:r>
              <a:t>Report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703320"/>
            <a:ext cx="23774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Markdown report</a:t>
            </a:r>
            <a:br/>
            <a:r>
              <a:t>Cycle archive</a:t>
            </a:r>
            <a:br/>
            <a:r>
              <a:t>History tracking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15544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15544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25603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35661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35661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4846320"/>
            <a:ext cx="4114800" cy="914400"/>
          </a:xfrm>
          <a:prstGeom prst="roundRect">
            <a:avLst/>
          </a:prstGeom>
          <a:solidFill>
            <a:srgbClr val="24243E"/>
          </a:solidFill>
          <a:ln w="2540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489204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BB86FC"/>
                </a:solidFill>
                <a:latin typeface="Calibri"/>
              </a:defRPr>
            </a:pPr>
            <a:r>
              <a:t>HypothesisTracker + ExperimentRunner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25780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Hypothesis registration → Experiment → Verification → Confidence update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0" y="4846320"/>
            <a:ext cx="3931920" cy="914400"/>
          </a:xfrm>
          <a:prstGeom prst="roundRect">
            <a:avLst/>
          </a:prstGeom>
          <a:solidFill>
            <a:srgbClr val="24243E"/>
          </a:solidFill>
          <a:ln w="254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937760" y="48920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43"/>
                </a:solidFill>
                <a:latin typeface="Calibri"/>
              </a:defRPr>
            </a:pPr>
            <a:r>
              <a:t>CycleCoordinator (Sequential Orchestrator)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52578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for phase in PHASES: run_phase() • State persistence • Resume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A8DE"/>
                </a:solidFill>
                <a:latin typeface="Calibri"/>
              </a:defRPr>
            </a:pPr>
            <a:r>
              <a:t>Phase 1: Pareto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0C878"/>
                </a:solidFill>
                <a:latin typeface="Calibri"/>
              </a:defRPr>
            </a:pPr>
            <a:r>
              <a:t>Per-Solver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374903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Parameter sweep: α=[0.0, 0.5, 1.0]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dt=[0.001, 0.0005], nr=61 (fixed)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PHYSBO or grid-based dt exploration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Stability check + L2/L∞ error computation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Pareto rank assignment (0=optimal)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05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0C878"/>
                </a:solidFill>
                <a:latin typeface="Calibri"/>
              </a:defRPr>
            </a:pPr>
            <a:r>
              <a:t>Cross-Solver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46304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Rankings per problem setting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Win counts (accuracy, speed, Pareto)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Coverage gap detection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Overall solver rankings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F43"/>
                </a:solidFill>
                <a:latin typeface="Calibri"/>
              </a:defRPr>
            </a:pPr>
            <a:r>
              <a:t>PHYSBO Bayesian Optimization Integration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840480"/>
            <a:ext cx="8229600" cy="2286000"/>
          </a:xfrm>
          <a:prstGeom prst="roundRect">
            <a:avLst/>
          </a:prstGeom>
          <a:solidFill>
            <a:srgbClr val="161628"/>
          </a:solidFill>
          <a:ln w="12700">
            <a:solidFill>
              <a:srgbClr val="3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100">
                <a:solidFill>
                  <a:srgbClr val="A0E0A0"/>
                </a:solidFill>
                <a:latin typeface="Consolas"/>
              </a:defRPr>
            </a:pPr>
            <a:r>
              <a:t># Feature: log10(dt) (1-dim, 80 discrete candidates)</a:t>
            </a:r>
            <a:br/>
            <a:r>
              <a:t># Objectives: -L2_error, -wall_time (2-objective maximization)</a:t>
            </a:r>
            <a:br/>
            <a:r>
              <a:t># Discrete multi-objective optimization per (alpha, ic_type):</a:t>
            </a:r>
            <a:br/>
            <a:br/>
            <a:r>
              <a:t>dt_candidates = np.logspace(-5, -2, 80)  # 80 log-spaced</a:t>
            </a:r>
            <a:br/>
            <a:r>
              <a:t>test_X = np.log10(dt_candidates).reshape(-1, 1)</a:t>
            </a:r>
            <a:br/>
            <a:r>
              <a:t>policy = physbo.search.discrete_multi.Policy(</a:t>
            </a:r>
            <a:br/>
            <a:r>
              <a:t>    test_X=test_X, num_objectives=2)  # discrete search</a:t>
            </a:r>
            <a:br/>
            <a:r>
              <a:t>policy.random_search(max_num_probes=5)   # random phase</a:t>
            </a:r>
            <a:br/>
            <a:r>
              <a:t>policy.bayes_search(max_num_probes=15, score='HVPI')  # Bayesian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A8DE"/>
                </a:solidFill>
                <a:latin typeface="Calibri"/>
              </a:defRPr>
            </a:pPr>
            <a:r>
              <a:t>Phase 2: Bottleneck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0C878"/>
                </a:solidFill>
                <a:latin typeface="Calibri"/>
              </a:defRPr>
            </a:pPr>
            <a:r>
              <a:t>8 Detection Categories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A8DE"/>
                </a:solidFill>
                <a:latin typeface="Consolas"/>
              </a:defRPr>
            </a:pPr>
            <a:r>
              <a:t>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5544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50C878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554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Solver stability rate &lt; 90%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A8DE"/>
                </a:solidFill>
                <a:latin typeface="Consolas"/>
              </a:defRPr>
            </a:pPr>
            <a:r>
              <a:t>accuracy_gap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92024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F43"/>
                </a:solidFill>
                <a:latin typeface="Calibri"/>
              </a:defRPr>
            </a:pPr>
            <a:r>
              <a:t>MED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9202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Large L2 error differences between solvers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A8DE"/>
                </a:solidFill>
                <a:latin typeface="Consolas"/>
              </a:defRPr>
            </a:pPr>
            <a:r>
              <a:t>speed_gap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28600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50C878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2860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Execution time ratio &gt; 100×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517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A8DE"/>
                </a:solidFill>
                <a:latin typeface="Consolas"/>
              </a:defRPr>
            </a:pPr>
            <a:r>
              <a:t>coverage_gap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6517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F43"/>
                </a:solidFill>
                <a:latin typeface="Calibri"/>
              </a:defRPr>
            </a:pPr>
            <a:r>
              <a:t>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6517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Single solver dominates Pareto front (&gt;80%)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0175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A8DE"/>
                </a:solidFill>
                <a:latin typeface="Consolas"/>
              </a:defRPr>
            </a:pPr>
            <a:r>
              <a:t>no_stable_solver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017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6060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0175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No solver stable for a problem setting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383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A8DE"/>
                </a:solidFill>
                <a:latin typeface="Consolas"/>
              </a:defRPr>
            </a:pPr>
            <a:r>
              <a:t>solver_dominance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3832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F43"/>
                </a:solidFill>
                <a:latin typeface="Calibri"/>
              </a:defRPr>
            </a:pPr>
            <a:r>
              <a:t>MED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33832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One solver wins &gt;80% of problems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7490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A8DE"/>
                </a:solidFill>
                <a:latin typeface="Consolas"/>
              </a:defRPr>
            </a:pPr>
            <a:r>
              <a:t>cross_accuracy_gap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74904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6060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7490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Best solver still has L2 &gt; 0.5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1148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A8DE"/>
                </a:solidFill>
                <a:latin typeface="Consolas"/>
              </a:defRPr>
            </a:pPr>
            <a:r>
              <a:t>solver_instability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411480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F43"/>
                </a:solidFill>
                <a:latin typeface="Calibri"/>
              </a:defRPr>
            </a:pPr>
            <a:r>
              <a:t>MED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41148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Solver fails on &gt;20% of problems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75488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CC"/>
                </a:solidFill>
                <a:latin typeface="Calibri"/>
              </a:defRPr>
            </a:pPr>
            <a:r>
              <a:t>Each bottleneck includes: severity, affected solvers, evidence dict, and suggested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4EA8DE"/>
                </a:solidFill>
                <a:latin typeface="Calibri"/>
              </a:defRPr>
            </a:pPr>
            <a:r>
              <a:t>Phase 3-4: Proposal &amp; Multi-Perspective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0C878"/>
                </a:solidFill>
                <a:latin typeface="Calibri"/>
              </a:defRPr>
            </a:pPr>
            <a:r>
              <a:t>Phase 3: Proposal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43"/>
                </a:solidFill>
                <a:latin typeface="Consolas"/>
              </a:defRPr>
            </a:pPr>
            <a:r>
              <a:t>parameter_tuning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15544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dt constraints, nr adjustment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43"/>
                </a:solidFill>
                <a:latin typeface="Consolas"/>
              </a:defRPr>
            </a:pPr>
            <a:r>
              <a:t>algorithm_tweak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9202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Adaptive time-stepping, lagged coefficients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43"/>
                </a:solidFill>
                <a:latin typeface="Consolas"/>
              </a:defRPr>
            </a:pPr>
            <a:r>
              <a:t>new_solver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2860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IMEX for stiff problems, hybrid methods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05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0C878"/>
                </a:solidFill>
                <a:latin typeface="Calibri"/>
              </a:defRPr>
            </a:pPr>
            <a:r>
              <a:t>Phase 4: 4-Perspective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554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BB86FC"/>
                </a:solidFill>
                <a:latin typeface="Calibri"/>
              </a:defRPr>
            </a:pPr>
            <a:r>
              <a:t>Accuracy (1.5)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5544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Resolution, adaptive methods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9202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BB86FC"/>
                </a:solidFill>
                <a:latin typeface="Calibri"/>
              </a:defRPr>
            </a:pPr>
            <a:r>
              <a:t>Speed (1.0)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9202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Optimization, vectorization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2860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BB86FC"/>
                </a:solidFill>
                <a:latin typeface="Calibri"/>
              </a:defRPr>
            </a:pPr>
            <a:r>
              <a:t>Stability (1.2)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Stability-focused proposals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651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BB86FC"/>
                </a:solidFill>
                <a:latin typeface="Calibri"/>
              </a:defRPr>
            </a:pPr>
            <a:r>
              <a:t>Complexity (0.8)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Simpler = better (param &gt; algo &gt; new)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20040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4 Perspectives run sequentially (for loop). Parallelizable via concurrent.futures if extended to heavy tasks.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9F43"/>
                </a:solidFill>
                <a:latin typeface="Cambria Math"/>
              </a:defRPr>
            </a:pPr>
            <a:r>
              <a:t>overall = Σ(weight_i × score_i) / Σ(weight_i)    approve ≥ 4.0  |  consider ≥ 3.0  |  reject &lt; 3.0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0C878"/>
                </a:solidFill>
                <a:latin typeface="Calibri"/>
              </a:defRPr>
            </a:pPr>
            <a:r>
              <a:t>Example: Multi-Agent Evaluation Scores (Cycle 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DE"/>
                </a:solidFill>
                <a:latin typeface="Calibri"/>
              </a:defRPr>
            </a:pPr>
            <a:r>
              <a:t>Proposal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5720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DE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45720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DE"/>
                </a:solidFill>
                <a:latin typeface="Calibri"/>
              </a:defRPr>
            </a:pPr>
            <a:r>
              <a:t>Speed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5720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DE"/>
                </a:solidFill>
                <a:latin typeface="Calibri"/>
              </a:defRPr>
            </a:pPr>
            <a:r>
              <a:t>Stability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45720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DE"/>
                </a:solidFill>
                <a:latin typeface="Calibri"/>
              </a:defRPr>
            </a:pPr>
            <a:r>
              <a:t>Complex.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45720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DE"/>
                </a:solidFill>
                <a:latin typeface="Calibri"/>
              </a:defRPr>
            </a:pPr>
            <a:r>
              <a:t>Overall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45720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DE"/>
                </a:solidFill>
                <a:latin typeface="Calibri"/>
              </a:defRPr>
            </a:pPr>
            <a:r>
              <a:t>Rec.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9194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9F43"/>
                </a:solidFill>
                <a:latin typeface="Calibri"/>
              </a:defRPr>
            </a:pPr>
            <a:r>
              <a:t>P001: Adaptive stepping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491947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49194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3.0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91947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4.5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491947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2.5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91947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C878"/>
                </a:solidFill>
                <a:latin typeface="Calibri"/>
              </a:defRPr>
            </a:pPr>
            <a:r>
              <a:t>3.38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491947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consider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26694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9F43"/>
                </a:solidFill>
                <a:latin typeface="Calibri"/>
              </a:defRPr>
            </a:pPr>
            <a:r>
              <a:t>P002: dt constraints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5266944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3.5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526694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4.5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5266944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4.0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0640" y="5266944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4.5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5266944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C878"/>
                </a:solidFill>
                <a:latin typeface="Calibri"/>
              </a:defRPr>
            </a:pPr>
            <a:r>
              <a:t>3.81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0" y="526694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consider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61441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9F43"/>
                </a:solidFill>
                <a:latin typeface="Calibri"/>
              </a:defRPr>
            </a:pPr>
            <a:r>
              <a:t>P003: Vectorize FVM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0" y="5614416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3.0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61441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97680" y="5614416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3.0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0640" y="5614416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3.5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5614416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C878"/>
                </a:solidFill>
                <a:latin typeface="Calibri"/>
              </a:defRPr>
            </a:pPr>
            <a:r>
              <a:t>3.38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561441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consider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4EA8DE"/>
                </a:solidFill>
                <a:latin typeface="Calibri"/>
              </a:defRPr>
            </a:pPr>
            <a:r>
              <a:t>Phase 5-7: Review → Implementation → Report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097280"/>
            <a:ext cx="2651760" cy="2286000"/>
          </a:xfrm>
          <a:prstGeom prst="roundRect">
            <a:avLst/>
          </a:prstGeom>
          <a:solidFill>
            <a:srgbClr val="24243E"/>
          </a:solidFill>
          <a:ln w="254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A8DE"/>
                </a:solidFill>
                <a:latin typeface="Calibri"/>
              </a:defRPr>
            </a:pPr>
            <a:r>
              <a:t>Phase 5: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Auto: score ≥ 4.0 → approve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Interactive: Y/n/q per proposal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Status → approved / rejected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097280"/>
            <a:ext cx="2651760" cy="2286000"/>
          </a:xfrm>
          <a:prstGeom prst="roundRect">
            <a:avLst/>
          </a:prstGeom>
          <a:solidFill>
            <a:srgbClr val="24243E"/>
          </a:solidFill>
          <a:ln w="25400">
            <a:solidFill>
              <a:srgbClr val="50C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11887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0C878"/>
                </a:solidFill>
                <a:latin typeface="Calibri"/>
              </a:defRPr>
            </a:pPr>
            <a:r>
              <a:t>Phase 6: Implement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459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param_tuning: preview sketch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algo_tweak: manual guidance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new_solver: code template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097280"/>
            <a:ext cx="2651760" cy="2286000"/>
          </a:xfrm>
          <a:prstGeom prst="roundRect">
            <a:avLst/>
          </a:prstGeom>
          <a:solidFill>
            <a:srgbClr val="24243E"/>
          </a:solidFill>
          <a:ln w="254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0" y="11887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43"/>
                </a:solidFill>
                <a:latin typeface="Calibri"/>
              </a:defRPr>
            </a:pPr>
            <a:r>
              <a:t>Phase 7: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6459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Markdown cycle report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cycle_NNN_datetime.md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History JSON updated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011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11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576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0C878"/>
                </a:solidFill>
                <a:latin typeface="Calibri"/>
              </a:defRPr>
            </a:pPr>
            <a:r>
              <a:t>Report Contents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14800"/>
            <a:ext cx="7680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▶  Executive summary (solver count, bottleneck count, proposals, approved)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▶  Cross-solver analysis: rankings, win counts, per-problem results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▶  Per-solver Pareto analysis: stability rates, error/time ranges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▶  Identified bottlenecks with severity and suggested actions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▶  Proposals with rationale and multi-perspective evaluation scores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▶  Next cycle recommendations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4EA8DE"/>
                </a:solidFill>
                <a:latin typeface="Calibri"/>
              </a:defRPr>
            </a:pPr>
            <a:r>
              <a:t>PHYSBO: Bayesian Multi-Objective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FF9F43"/>
                </a:solidFill>
                <a:latin typeface="Cambria Math"/>
              </a:defRPr>
            </a:pPr>
            <a:r>
              <a:t>Feature: log10(dt) [80 discrete candidates]    Objectives: -L2_error, -wall_time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A8DE"/>
                </a:solidFill>
                <a:latin typeface="Calibri"/>
              </a:defRPr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94560" y="1645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A8DE"/>
                </a:solidFill>
                <a:latin typeface="Calibri"/>
              </a:defRPr>
            </a:pPr>
            <a:r>
              <a:t>Grid 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1645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A8DE"/>
                </a:solidFill>
                <a:latin typeface="Calibri"/>
              </a:defRPr>
            </a:pPr>
            <a:r>
              <a:t>PHYSBO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933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C878"/>
                </a:solidFill>
                <a:latin typeface="Calibri"/>
              </a:defRPr>
            </a:pPr>
            <a:r>
              <a:t>Feature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99339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99339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log10(dt) (1-dim)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4086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C878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34086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L2, wall_time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34086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-L2, -wall_time (2-obj max)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8833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C878"/>
                </a:solidFill>
                <a:latin typeface="Calibri"/>
              </a:defRPr>
            </a:pPr>
            <a:r>
              <a:t>Evaluations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68833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All dt × all problems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68833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20/problem (5+15)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03580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C878"/>
                </a:solidFill>
                <a:latin typeface="Calibri"/>
              </a:defRPr>
            </a:pPr>
            <a:r>
              <a:t>Search space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03580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Fixed grid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303580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80 log-spaced candidates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383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C878"/>
                </a:solidFill>
                <a:latin typeface="Calibri"/>
              </a:defRPr>
            </a:pPr>
            <a:r>
              <a:t>Strategy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33832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Exhaustive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3832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HVPI-guided exploration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7307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C878"/>
                </a:solidFill>
                <a:latin typeface="Calibri"/>
              </a:defRPr>
            </a:pPr>
            <a:r>
              <a:t>Requirement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373075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Always available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373075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physbo package needed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0C878"/>
                </a:solidFill>
                <a:latin typeface="Calibri"/>
              </a:defRPr>
            </a:pPr>
            <a:r>
              <a:t>Per (alpha, ic_type) pair: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9F43"/>
                </a:solidFill>
                <a:latin typeface="Calibri"/>
              </a:defRPr>
            </a:pPr>
            <a:r>
              <a:t>80 dt candidates  →  5 random probes  →  15 HVPI-guided probes  →  best stable point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21208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CC"/>
                </a:solidFill>
                <a:latin typeface="Calibri"/>
              </a:defRPr>
            </a:pPr>
            <a:r>
              <a:t>Fallback: auto-detect physbo availability; grid search if not installed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A8DE"/>
                </a:solidFill>
                <a:latin typeface="Calibri"/>
              </a:defRPr>
            </a:pPr>
            <a:r>
              <a:t>Results: Cross-Solver Rankings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CC"/>
                </a:solidFill>
                <a:latin typeface="Calibri"/>
              </a:defRPr>
            </a:pPr>
            <a:r>
              <a:t>Tutorial Run Output (α = 0.0, 0.5, 1.0)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A8DE"/>
                </a:solidFill>
                <a:latin typeface="Calibri"/>
              </a:defRPr>
            </a:pPr>
            <a:r>
              <a:t>Rank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A8DE"/>
                </a:solidFill>
                <a:latin typeface="Calibri"/>
              </a:defRPr>
            </a:pPr>
            <a:r>
              <a:t>Solver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3716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A8DE"/>
                </a:solidFill>
                <a:latin typeface="Calibri"/>
              </a:defRPr>
            </a:pPr>
            <a:r>
              <a:t>Avg Rank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3716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A8DE"/>
                </a:solidFill>
                <a:latin typeface="Calibri"/>
              </a:defRPr>
            </a:pPr>
            <a:r>
              <a:t>Stability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716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A8DE"/>
                </a:solidFill>
                <a:latin typeface="Calibri"/>
              </a:defRPr>
            </a:pPr>
            <a:r>
              <a:t>Min L2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1907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C878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7190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9F43"/>
                </a:solidFill>
                <a:latin typeface="Calibri"/>
              </a:defRPr>
            </a:pPr>
            <a:r>
              <a:t>implicit_fdm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71907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1.3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71907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71907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0.054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66544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C878"/>
                </a:solidFill>
                <a:latin typeface="Calibri"/>
              </a:defRPr>
            </a:pPr>
            <a:r>
              <a:t>#2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06654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9F43"/>
                </a:solidFill>
                <a:latin typeface="Calibri"/>
              </a:defRPr>
            </a:pPr>
            <a:r>
              <a:t>cell_centered_fvm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066544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2.0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06654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06654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0.058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414016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C878"/>
                </a:solidFill>
                <a:latin typeface="Calibri"/>
              </a:defRPr>
            </a:pPr>
            <a:r>
              <a:t>#3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241401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9F43"/>
                </a:solidFill>
                <a:latin typeface="Calibri"/>
              </a:defRPr>
            </a:pPr>
            <a:r>
              <a:t>compact4_fdm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2414016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2.7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241401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41401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0.115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27614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C878"/>
                </a:solidFill>
                <a:latin typeface="Calibri"/>
              </a:defRPr>
            </a:pPr>
            <a:r>
              <a:t>#4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2761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9F43"/>
                </a:solidFill>
                <a:latin typeface="Calibri"/>
              </a:defRPr>
            </a:pPr>
            <a:r>
              <a:t>p2_fem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27614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3.5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276148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276148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0.108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1089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C878"/>
                </a:solidFill>
                <a:latin typeface="Calibri"/>
              </a:defRPr>
            </a:pPr>
            <a:r>
              <a:t>#5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3108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9F43"/>
                </a:solidFill>
                <a:latin typeface="Calibri"/>
              </a:defRPr>
            </a:pPr>
            <a:r>
              <a:t>imex_fdm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31089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31089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31089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0.492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345643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C878"/>
                </a:solidFill>
                <a:latin typeface="Calibri"/>
              </a:defRPr>
            </a:pPr>
            <a:r>
              <a:t>#6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4564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9F43"/>
                </a:solidFill>
                <a:latin typeface="Calibri"/>
              </a:defRPr>
            </a:pPr>
            <a:r>
              <a:t>cosine_spectral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31920" y="345643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5.2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345643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67%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34564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varies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3803904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C878"/>
                </a:solidFill>
                <a:latin typeface="Calibri"/>
              </a:defRPr>
            </a:pPr>
            <a:r>
              <a:t>#7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380390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9F43"/>
                </a:solidFill>
                <a:latin typeface="Calibri"/>
              </a:defRPr>
            </a:pPr>
            <a:r>
              <a:t>pinn_stub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3803904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6.5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0" y="380390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380390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4151376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C878"/>
                </a:solidFill>
                <a:latin typeface="Calibri"/>
              </a:defRPr>
            </a:pPr>
            <a:r>
              <a:t>#8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" y="415137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9F43"/>
                </a:solidFill>
                <a:latin typeface="Calibri"/>
              </a:defRPr>
            </a:pPr>
            <a:r>
              <a:t>chebyshev_spectral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31920" y="4151376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7.0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0640" y="415137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15137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475488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0C878"/>
                </a:solidFill>
                <a:latin typeface="Calibri"/>
              </a:defRPr>
            </a:pPr>
            <a:r>
              <a:t>implicit_fdm consistently ranks #1 across all α values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212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CC"/>
                </a:solidFill>
                <a:latin typeface="Calibri"/>
              </a:defRPr>
            </a:pPr>
            <a:r>
              <a:t>Reference: Implicit FDM with 4× grid refinement (nr×4, dt/4)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A8DE"/>
                </a:solidFill>
                <a:latin typeface="Calibri"/>
              </a:defRPr>
            </a:pPr>
            <a:r>
              <a:t>Results: Per-Solver Pareto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A8DE"/>
                </a:solidFill>
                <a:latin typeface="Calibri"/>
              </a:defRPr>
            </a:pPr>
            <a:r>
              <a:t>Solver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10972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A8DE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0972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A8DE"/>
                </a:solidFill>
                <a:latin typeface="Calibri"/>
              </a:defRPr>
            </a:pPr>
            <a:r>
              <a:t>Stable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A8DE"/>
                </a:solidFill>
                <a:latin typeface="Calibri"/>
              </a:defRPr>
            </a:pPr>
            <a:r>
              <a:t>Pareto-Opt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10972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A8DE"/>
                </a:solidFill>
                <a:latin typeface="Calibri"/>
              </a:defRPr>
            </a:pPr>
            <a:r>
              <a:t>Min 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0972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A8DE"/>
                </a:solidFill>
                <a:latin typeface="Calibri"/>
              </a:defRPr>
            </a:pPr>
            <a:r>
              <a:t>Max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4475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9F43"/>
                </a:solidFill>
                <a:latin typeface="Calibri"/>
              </a:defRPr>
            </a:pPr>
            <a:r>
              <a:t>implicit_fdm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4447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4447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4447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C87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144475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0.054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44475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0.296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792224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9F43"/>
                </a:solidFill>
                <a:latin typeface="Calibri"/>
              </a:defRPr>
            </a:pPr>
            <a:r>
              <a:t>cell_centered_fvm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179222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1792224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17922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C87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1792224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0.058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1792224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0.287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2139696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9F43"/>
                </a:solidFill>
                <a:latin typeface="Calibri"/>
              </a:defRPr>
            </a:pPr>
            <a:r>
              <a:t>compact4_fdm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13969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2139696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13969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C87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2139696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0.115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2139696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0.489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248716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9F43"/>
                </a:solidFill>
                <a:latin typeface="Calibri"/>
              </a:defRPr>
            </a:pPr>
            <a:r>
              <a:t>p2_fem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248716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248716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248716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C87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248716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0.045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248716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0.531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8346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9F43"/>
                </a:solidFill>
                <a:latin typeface="Calibri"/>
              </a:defRPr>
            </a:pPr>
            <a:r>
              <a:t>imex_fdm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28346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28346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28346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C878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60" y="28346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0.492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28346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1.203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318211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9F43"/>
                </a:solidFill>
                <a:latin typeface="Calibri"/>
              </a:defRPr>
            </a:pPr>
            <a:r>
              <a:t>cosine_spectral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0" y="318211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74720" y="318211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0" y="318211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C878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94960" y="318211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0.089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318211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0.812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3529584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9F43"/>
                </a:solidFill>
                <a:latin typeface="Calibri"/>
              </a:defRPr>
            </a:pPr>
            <a:r>
              <a:t>chebyshev_spectral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0" y="352958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74720" y="3529584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0" y="3529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C87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94960" y="3529584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0.799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0" y="3529584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1.532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3877056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9F43"/>
                </a:solidFill>
                <a:latin typeface="Calibri"/>
              </a:defRPr>
            </a:pPr>
            <a:r>
              <a:t>pinn_stub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43200" y="387705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74720" y="3877056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97680" y="38770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C878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94960" y="3877056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0" y="3877056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45720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FDM/FVM solvers: 100% stability, competitive error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cosine_spectral: dt-sensitive stability (67%), best at low α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p2_fem: good accuracy but 10-100× slower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A8DE"/>
                </a:solidFill>
                <a:latin typeface="Calibri"/>
              </a:defRPr>
            </a:pPr>
            <a:r>
              <a:t>Results: Bottlenecks &amp; Proposals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43"/>
                </a:solidFill>
                <a:latin typeface="Calibri"/>
              </a:defRPr>
            </a:pPr>
            <a:r>
              <a:t>Detected Bottlenecks (Cycle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A8DE"/>
                </a:solidFill>
                <a:latin typeface="Consolas"/>
              </a:defRPr>
            </a:pPr>
            <a:r>
              <a:t>speed_gap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4630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50C878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46304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fastest=2.98ms (cell_centered_fvm), slowest=2361.36ms → 792×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A8DE"/>
                </a:solidFill>
                <a:latin typeface="Consolas"/>
              </a:defRPr>
            </a:pPr>
            <a:r>
              <a:t>stability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874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F43"/>
                </a:solidFill>
                <a:latin typeface="Calibri"/>
              </a:defRPr>
            </a:pPr>
            <a:r>
              <a:t>MED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87452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cosine_spectral: 67% stability (α ≥ 0.5 instability)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0C878"/>
                </a:solidFill>
                <a:latin typeface="Calibri"/>
              </a:defRPr>
            </a:pPr>
            <a:r>
              <a:t>Generated Proposals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DE"/>
                </a:solidFill>
                <a:latin typeface="Calibri"/>
              </a:defRPr>
            </a:pPr>
            <a:r>
              <a:t>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17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DE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30175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DE"/>
                </a:solidFill>
                <a:latin typeface="Calibri"/>
              </a:defRPr>
            </a:pPr>
            <a:r>
              <a:t>Title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017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DE"/>
                </a:solidFill>
                <a:latin typeface="Calibri"/>
              </a:defRPr>
            </a:pPr>
            <a:r>
              <a:t>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DE"/>
                </a:solidFill>
                <a:latin typeface="Calibri"/>
              </a:defRPr>
            </a:pPr>
            <a:r>
              <a:t>Recommendation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36499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C878"/>
                </a:solidFill>
                <a:latin typeface="Calibri"/>
              </a:defRPr>
            </a:pPr>
            <a:r>
              <a:t>P001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36499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9F43"/>
                </a:solidFill>
                <a:latin typeface="Calibri"/>
              </a:defRPr>
            </a:pPr>
            <a:r>
              <a:t>algorithm_tweak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336499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Adaptive time-stepping for cosine_spectral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36499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C878"/>
                </a:solidFill>
                <a:latin typeface="Calibri"/>
              </a:defRPr>
            </a:pPr>
            <a:r>
              <a:t>3.38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3649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consider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12464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C878"/>
                </a:solidFill>
                <a:latin typeface="Calibri"/>
              </a:defRPr>
            </a:pPr>
            <a:r>
              <a:t>P002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71246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9F43"/>
                </a:solidFill>
                <a:latin typeface="Calibri"/>
              </a:defRPr>
            </a:pPr>
            <a:r>
              <a:t>parameter_tuning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712464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Constrain dt for high-alpha problems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371246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C878"/>
                </a:solidFill>
                <a:latin typeface="Calibri"/>
              </a:defRPr>
            </a:pPr>
            <a:r>
              <a:t>3.81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71246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consider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059936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C878"/>
                </a:solidFill>
                <a:latin typeface="Calibri"/>
              </a:defRPr>
            </a:pPr>
            <a:r>
              <a:t>P003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05993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9F43"/>
                </a:solidFill>
                <a:latin typeface="Calibri"/>
              </a:defRPr>
            </a:pPr>
            <a:r>
              <a:t>parameter_tuning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4059936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Optimize FVM vectorization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405993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C878"/>
                </a:solidFill>
                <a:latin typeface="Calibri"/>
              </a:defRPr>
            </a:pPr>
            <a:r>
              <a:t>3.38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05993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consider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CC"/>
                </a:solidFill>
                <a:latin typeface="Calibri"/>
              </a:defRPr>
            </a:pPr>
            <a:r>
              <a:t>All proposals scored 3.0-3.9 ("consider" range) — no auto-approved proposals in cycle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4EA8DE"/>
                </a:solidFill>
                <a:latin typeface="Calibri"/>
              </a:defRPr>
            </a:pPr>
            <a:r>
              <a:t>Scoring Mechanism: Keyword-Based Rule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CC"/>
                </a:solidFill>
                <a:latin typeface="Calibri"/>
              </a:defRPr>
            </a:pPr>
            <a:r>
              <a:t>Each Perspective: default score=3.0, then if/else keyword matching on proposal.title and proposal.proposal_type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0C878"/>
                </a:solidFill>
                <a:latin typeface="Calibri"/>
              </a:defRPr>
            </a:pPr>
            <a:r>
              <a:t>AccuracyPerspective (weight=1.5)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title ∈ "resolution"|"accuracy" → 4.5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title ∈ "adaptive"             → 4.0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type == parameter_tuning       → 3.5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(no match)                     →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3716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0C878"/>
                </a:solidFill>
                <a:latin typeface="Calibri"/>
              </a:defRPr>
            </a:pPr>
            <a:r>
              <a:t>SpeedPerspective (weight=1.0)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73736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title ∈ "optimize"|"fast"      → 4.5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title ∈ "adaptive"             → 2.5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title ∈ "resolution"+"increase" → 2.0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(no match)                     → 3.0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1089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0C878"/>
                </a:solidFill>
                <a:latin typeface="Calibri"/>
              </a:defRPr>
            </a:pPr>
            <a:r>
              <a:t>StabilityPerspective (weight=1.2)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title ∈ "stability"|"adaptive" → 5.0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title ∈ "constrain"            → 4.5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type == algorithm_tweak        → 3.5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(no match)                     → 3.0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31089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0C878"/>
                </a:solidFill>
                <a:latin typeface="Calibri"/>
              </a:defRPr>
            </a:pPr>
            <a:r>
              <a:t>ComplexityPerspective (weight=0.8)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47472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type == parameter_tuning  → 4.5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type == algorithm_tweak   → 2.5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type == new_solver        → 1.5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sketch &gt; 20 lines         → score - 1.0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463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9F43"/>
                </a:solidFill>
                <a:latin typeface="Cambria Math"/>
              </a:defRPr>
            </a:pPr>
            <a:r>
              <a:t>overall = (acc×1.5 + spd×1.0 + stb×1.2 + cpx×0.8) / 4.5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949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060"/>
                </a:solidFill>
                <a:latin typeface="Calibri"/>
              </a:defRPr>
            </a:pPr>
            <a:r>
              <a:t>Limitation: Scores are determined by keyword string matching, not by understanding proposal content.</a:t>
            </a:r>
            <a:br/>
            <a:r>
              <a:t>If no keyword matches, all 4 perspectives return 3.0 → overall = 3.0 (fixed). Score constants (e.g. 4.5, 2.5) are heuristic.</a:t>
            </a:r>
          </a:p>
        </p:txBody>
      </p:sp>
    </p:spTree>
    <p:extLst>
      <p:ext uri="{BB962C8B-B14F-4D97-AF65-F5344CB8AC3E}">
        <p14:creationId xmlns:p14="http://schemas.microsoft.com/office/powerpoint/2010/main" val="25394662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A8DE"/>
                </a:solidFill>
                <a:latin typeface="Calibri"/>
              </a:defRPr>
            </a:pPr>
            <a:r>
              <a:t>Hypothesis-Driven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B86FC"/>
                </a:solidFill>
                <a:latin typeface="Calibri"/>
              </a:defRPr>
            </a:pPr>
            <a:r>
              <a:t>HypothesisTracker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374903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Register hypotheses with unique IDs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Track verification history per hypothesis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Auto-update status &amp; confidence (0-1)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JSON persistence for cross-session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05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B86FC"/>
                </a:solidFill>
                <a:latin typeface="Calibri"/>
              </a:defRPr>
            </a:pPr>
            <a:r>
              <a:t>ExperimentRunner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46304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Execute solver experiments with configs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Compute reference (4× refined ImplicitFDM)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Record L2/L∞ error, time, stability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▶  Append results to CSV database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9F43"/>
                </a:solidFill>
                <a:latin typeface="Calibri"/>
              </a:defRPr>
            </a:pPr>
            <a:r>
              <a:t>untested  →  experiment  →  verified  →  confirmed / rejected / inconclusive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0C878"/>
                </a:solidFill>
                <a:latin typeface="Calibri"/>
              </a:defRPr>
            </a:pPr>
            <a:r>
              <a:t>Predefined Experiments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976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9F43"/>
                </a:solidFill>
                <a:latin typeface="Consolas"/>
              </a:defRPr>
            </a:pPr>
            <a:r>
              <a:t>stability_map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42976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Sweep α×dt space (8 alphas, 5 dts)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9F43"/>
                </a:solidFill>
                <a:latin typeface="Consolas"/>
              </a:defRPr>
            </a:pPr>
            <a:r>
              <a:t>ic_comparison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461772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Compare across initial conditions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377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9F43"/>
                </a:solidFill>
                <a:latin typeface="Consolas"/>
              </a:defRPr>
            </a:pPr>
            <a:r>
              <a:t>pinn_comparison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493776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PINN variants vs FDM/Spectral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2578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9F43"/>
                </a:solidFill>
                <a:latin typeface="Consolas"/>
              </a:defRPr>
            </a:pPr>
            <a:r>
              <a:t>linear_regime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52578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Test in purely linear regime (|dT/dr|&lt;0.5)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5778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9F43"/>
                </a:solidFill>
                <a:latin typeface="Consolas"/>
              </a:defRPr>
            </a:pPr>
            <a:r>
              <a:t>fine_sweep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557784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Exhaustive sweep (9α × 5nr × 3dt × 3t_end)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4EA8DE"/>
                </a:solidFill>
                <a:latin typeface="Calibri"/>
              </a:defRPr>
            </a:pPr>
            <a:r>
              <a:t>Hypothesis Verification: Real Examples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005840"/>
            <a:ext cx="8412480" cy="2103120"/>
          </a:xfrm>
          <a:prstGeom prst="roundRect">
            <a:avLst/>
          </a:prstGeom>
          <a:solidFill>
            <a:srgbClr val="24243E"/>
          </a:solidFill>
          <a:ln w="25400">
            <a:solidFill>
              <a:srgbClr val="50C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0C878"/>
                </a:solidFill>
                <a:latin typeface="Calibri"/>
              </a:defRPr>
            </a:pPr>
            <a:r>
              <a:t>H1: "Smaller dt improves spectral solver stability"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0515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0C878"/>
                </a:solidFill>
                <a:latin typeface="Calibri"/>
              </a:defRPr>
            </a:pPr>
            <a:r>
              <a:t>CONFIRMED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A8DE"/>
                </a:solidFill>
                <a:latin typeface="Calibri"/>
              </a:defRPr>
            </a:pPr>
            <a:r>
              <a:t>dt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5544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A8DE"/>
                </a:solidFill>
                <a:latin typeface="Calibri"/>
              </a:defRPr>
            </a:pPr>
            <a:r>
              <a:t>0.0001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15544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A8DE"/>
                </a:solidFill>
                <a:latin typeface="Calibri"/>
              </a:defRPr>
            </a:pPr>
            <a:r>
              <a:t>0.0002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15544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A8DE"/>
                </a:solidFill>
                <a:latin typeface="Calibri"/>
              </a:defRPr>
            </a:pPr>
            <a:r>
              <a:t>0.0005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544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A8DE"/>
                </a:solidFill>
                <a:latin typeface="Calibri"/>
              </a:defRPr>
            </a:pPr>
            <a:r>
              <a:t>0.001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5544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A8DE"/>
                </a:solidFill>
                <a:latin typeface="Calibri"/>
              </a:defRPr>
            </a:pPr>
            <a:r>
              <a:t>0.002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01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C878"/>
                </a:solidFill>
                <a:latin typeface="Calibri"/>
              </a:defRPr>
            </a:pPr>
            <a:r>
              <a:t>Stability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190195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190195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190195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190195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37744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Confidence: 1.0  |  6+ verification attempts across cycles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3291840"/>
            <a:ext cx="8412480" cy="2103120"/>
          </a:xfrm>
          <a:prstGeom prst="roundRect">
            <a:avLst/>
          </a:prstGeom>
          <a:solidFill>
            <a:srgbClr val="24243E"/>
          </a:solidFill>
          <a:ln w="254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333756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F43"/>
                </a:solidFill>
                <a:latin typeface="Calibri"/>
              </a:defRPr>
            </a:pPr>
            <a:r>
              <a:t>H_compact4_best: "Compact4 FDM beats implicit FDM at high α"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3375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0C878"/>
                </a:solidFill>
                <a:latin typeface="Calibri"/>
              </a:defRPr>
            </a:pPr>
            <a:r>
              <a:t>CONFIRMED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4048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▶  α=1.0: compact4_fdm L2=0.115 vs implicit_fdm L2=0.296  (compact4 wins)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▶  α=1.5: compact4_fdm L2=0.189 vs implicit_fdm L2=0.450  (compact4 wins)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▶  4th-order spatial accuracy advantage grows with nonlinearity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A8DE"/>
                </a:solidFill>
                <a:latin typeface="Calibri"/>
              </a:defRPr>
            </a:pPr>
            <a:r>
              <a:t>Improvement Cycle: Sequential 7-Phase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EA8DE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EA8DE"/>
                </a:solidFill>
                <a:latin typeface="Calibri"/>
              </a:defRPr>
            </a:pPr>
            <a:r>
              <a:t>Pareto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Parameter sweep + PHYSBO → Pareto fronts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CC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9F4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9F43"/>
                </a:solidFill>
                <a:latin typeface="Calibri"/>
              </a:defRPr>
            </a:pPr>
            <a:r>
              <a:t>Bottleneck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8 categories, severity scoring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CC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50C878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560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50C878"/>
                </a:solidFill>
                <a:latin typeface="Calibri"/>
              </a:defRPr>
            </a:pPr>
            <a:r>
              <a:t>Proposal Generation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560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1-3 proposals per bottleneck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CC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91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BB86FC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BB86FC"/>
                </a:solidFill>
                <a:latin typeface="Calibri"/>
              </a:defRPr>
            </a:pPr>
            <a:r>
              <a:t>Multi-Perspective Eval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291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4 views, weighted scoring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576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CC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023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BBBBCC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023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BBBBCC"/>
                </a:solidFill>
                <a:latin typeface="Calibri"/>
              </a:defRPr>
            </a:pPr>
            <a: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0233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Auto (score≥4.0) or interactive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3891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CC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50C878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50C878"/>
                </a:solidFill>
                <a:latin typeface="Calibri"/>
              </a:defRPr>
            </a:pPr>
            <a:r>
              <a:t>Implementation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47548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Sketches + guidance output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1206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CC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9F43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486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9F43"/>
                </a:solidFill>
                <a:latin typeface="Calibri"/>
              </a:defRPr>
            </a:pPr>
            <a:r>
              <a:t>Report &amp; Archive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0" y="54864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Markdown + history JSON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217920"/>
            <a:ext cx="8229600" cy="457200"/>
          </a:xfrm>
          <a:prstGeom prst="roundRect">
            <a:avLst/>
          </a:prstGeom>
          <a:solidFill>
            <a:srgbClr val="161628"/>
          </a:solidFill>
          <a:ln w="12700">
            <a:solidFill>
              <a:srgbClr val="3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300">
                <a:solidFill>
                  <a:srgbClr val="A0E0A0"/>
                </a:solidFill>
                <a:latin typeface="Consolas"/>
              </a:defRPr>
            </a:pPr>
            <a:r>
              <a:t>python docs/analysis/method_improvement_cycle.py --cycles 3 --auto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4EA8DE"/>
                </a:solidFill>
                <a:latin typeface="Calibri"/>
              </a:defRPr>
            </a:pPr>
            <a:r>
              <a:t>Advanced Multi-Agent System (Prototype)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CC"/>
                </a:solidFill>
                <a:latin typeface="Calibri"/>
              </a:defRPr>
            </a:pPr>
            <a:r>
              <a:t>docs/analysis/advanced_multi_agent.py — Debate-based architecture with critical review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463040"/>
            <a:ext cx="1920240" cy="1005840"/>
          </a:xfrm>
          <a:prstGeom prst="roundRect">
            <a:avLst/>
          </a:prstGeom>
          <a:solidFill>
            <a:srgbClr val="24243E"/>
          </a:solidFill>
          <a:ln w="254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1508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A8DE"/>
                </a:solidFill>
                <a:latin typeface="Calibri"/>
              </a:defRPr>
            </a:pPr>
            <a:r>
              <a:t>Statistics</a:t>
            </a:r>
            <a:br/>
            <a:r>
              <a:t>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8745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Distribution analysis</a:t>
            </a:r>
            <a:br/>
            <a:r>
              <a:t>Dominance 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68880" y="1463040"/>
            <a:ext cx="1920240" cy="1005840"/>
          </a:xfrm>
          <a:prstGeom prst="roundRect">
            <a:avLst/>
          </a:prstGeom>
          <a:solidFill>
            <a:srgbClr val="24243E"/>
          </a:solidFill>
          <a:ln w="254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514600" y="1508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A8DE"/>
                </a:solidFill>
                <a:latin typeface="Calibri"/>
              </a:defRPr>
            </a:pPr>
            <a:r>
              <a:t>Feature</a:t>
            </a:r>
            <a:br/>
            <a:r>
              <a:t>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8745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Tree-based importance</a:t>
            </a:r>
            <a:br/>
            <a:r>
              <a:t>Redundancy 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463040"/>
            <a:ext cx="1920240" cy="1005840"/>
          </a:xfrm>
          <a:prstGeom prst="roundRect">
            <a:avLst/>
          </a:prstGeom>
          <a:solidFill>
            <a:srgbClr val="24243E"/>
          </a:solidFill>
          <a:ln w="25400">
            <a:solidFill>
              <a:srgbClr val="50C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09159" y="1508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0C878"/>
                </a:solidFill>
                <a:latin typeface="Calibri"/>
              </a:defRPr>
            </a:pPr>
            <a:r>
              <a:t>Hypothesis</a:t>
            </a:r>
            <a:br/>
            <a:r>
              <a:t>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59" y="18745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Alpha threshold test</a:t>
            </a:r>
            <a:br/>
            <a:r>
              <a:t>Stiffness hypothesis</a:t>
            </a:r>
            <a:br/>
            <a:r>
              <a:t>Grid vs physics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1463040"/>
            <a:ext cx="1920240" cy="1005840"/>
          </a:xfrm>
          <a:prstGeom prst="roundRect">
            <a:avLst/>
          </a:prstGeom>
          <a:solidFill>
            <a:srgbClr val="24243E"/>
          </a:solidFill>
          <a:ln w="25400">
            <a:solidFill>
              <a:srgbClr val="FF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1508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060"/>
                </a:solidFill>
                <a:latin typeface="Calibri"/>
              </a:defRPr>
            </a:pPr>
            <a:r>
              <a:t>Critic</a:t>
            </a:r>
            <a:br/>
            <a:r>
              <a:t>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18745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Challenges claims</a:t>
            </a:r>
            <a:br/>
            <a:r>
              <a:t>Data diversity check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2743200"/>
            <a:ext cx="4572000" cy="731520"/>
          </a:xfrm>
          <a:prstGeom prst="roundRect">
            <a:avLst/>
          </a:prstGeom>
          <a:solidFill>
            <a:srgbClr val="24243E"/>
          </a:solidFill>
          <a:ln w="2540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40" y="27889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BB86FC"/>
                </a:solidFill>
                <a:latin typeface="Calibri"/>
              </a:defRPr>
            </a:pPr>
            <a:r>
              <a:t>SynthesisAgent — Aggregates insights + hypotheses + critiques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108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Generates final report with key findings, confirmed hypotheses, caveats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F43"/>
                </a:solidFill>
                <a:latin typeface="Calibri"/>
              </a:defRPr>
            </a:pPr>
            <a:r>
              <a:t>4-Phase Execution 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50C878"/>
                </a:solidFill>
                <a:latin typeface="Consolas"/>
              </a:defRPr>
            </a:pPr>
            <a:r>
              <a:t>Phase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206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F43"/>
                </a:solidFill>
                <a:latin typeface="Calibri"/>
              </a:defRPr>
            </a:pPr>
            <a:r>
              <a:t>Initial 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2062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StatisticsAgent + FeatureAgent run independently on training data (X, 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50C878"/>
                </a:solidFill>
                <a:latin typeface="Consolas"/>
              </a:defRPr>
            </a:pPr>
            <a:r>
              <a:t>Phase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526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F43"/>
                </a:solidFill>
                <a:latin typeface="Calibri"/>
              </a:defRPr>
            </a:pPr>
            <a:r>
              <a:t>Hypothesis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45262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HypothesisAgent tests 3 hypotheses: alpha threshold, stiffness, grid vs physics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8463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50C878"/>
                </a:solidFill>
                <a:latin typeface="Consolas"/>
              </a:defRPr>
            </a:pPr>
            <a:r>
              <a:t>Phase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F43"/>
                </a:solidFill>
                <a:latin typeface="Calibri"/>
              </a:defRPr>
            </a:pPr>
            <a:r>
              <a:t>Critical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48463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CriticAgent receives all insights and challenges weak claims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166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50C878"/>
                </a:solidFill>
                <a:latin typeface="Consolas"/>
              </a:defRPr>
            </a:pPr>
            <a:r>
              <a:t>Phase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F43"/>
                </a:solidFill>
                <a:latin typeface="Calibri"/>
              </a:defRPr>
            </a:pPr>
            <a:r>
              <a:t>Synthesis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0" y="51663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SynthesisAgent merges findings into structured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57784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Key difference from improvement cycle: CriticAgent can challenge other agents' conclusions.</a:t>
            </a:r>
            <a:br/>
            <a:r>
              <a:t>Still rule-based (no LLM), but demonstrates the debate pattern — a step toward true multi-agent collaboration.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A8DE"/>
                </a:solidFill>
                <a:latin typeface="Calibri"/>
              </a:defRPr>
            </a:pPr>
            <a:r>
              <a:t>Summary &amp; Future Directions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0C878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7680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✅  6 specialized agents in sequential pipeline (clear I/O interfaces)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✅  7-phase closed-loop improvement cycle (data-dependent, serial execution)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✅  PHYSBO Bayesian discrete multi-objective optimization (dt search)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✅  8-category bottleneck detection with severity scoring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✅  4-perspective weighted evaluation (parallelizable for future heavy tasks)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✅  Hypothesis-driven experiment framework with persistence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✅  Full state persistence (JSON) for resume/reproducibility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F43"/>
                </a:solidFill>
                <a:latin typeface="Calibri"/>
              </a:defRPr>
            </a:pPr>
            <a:r>
              <a:t>Design Principles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9768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▶  Hierarchical: CycleCoordinator → Agents → Data layer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▶  Modular: Each agent independently testable and replaceable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▶  Extensible: New solvers, bottleneck categories, eval perspectives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B86FC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BBBCC"/>
                </a:solidFill>
                <a:latin typeface="Calibri"/>
              </a:defRPr>
            </a:pPr>
            <a:r>
              <a:t>▶  Parallelize Phase 1 (solver × config) via ProcessPoolExecutor/MPI</a:t>
            </a:r>
          </a:p>
          <a:p>
            <a:pPr>
              <a:spcAft>
                <a:spcPts val="600"/>
              </a:spcAft>
              <a:defRPr sz="1600">
                <a:solidFill>
                  <a:srgbClr val="BBBBCC"/>
                </a:solidFill>
                <a:latin typeface="Calibri"/>
              </a:defRPr>
            </a:pPr>
            <a:r>
              <a:t>▶  Expand PHYSBO search to multi-dimensional (dt + nr + t_end)</a:t>
            </a:r>
          </a:p>
          <a:p>
            <a:pPr>
              <a:spcAft>
                <a:spcPts val="600"/>
              </a:spcAft>
              <a:defRPr sz="1600">
                <a:solidFill>
                  <a:srgbClr val="BBBBCC"/>
                </a:solidFill>
                <a:latin typeface="Calibri"/>
              </a:defRPr>
            </a:pPr>
            <a:r>
              <a:t>▶  Heavy Perspective evaluation → concurrent.futures parallelization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2314</Words>
  <Application>Microsoft Macintosh PowerPoint</Application>
  <PresentationFormat>画面に合わせる (4:3)</PresentationFormat>
  <Paragraphs>451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一慶 吉見</cp:lastModifiedBy>
  <cp:revision>2</cp:revision>
  <dcterms:created xsi:type="dcterms:W3CDTF">2013-01-27T09:14:16Z</dcterms:created>
  <dcterms:modified xsi:type="dcterms:W3CDTF">2026-02-04T01:31:48Z</dcterms:modified>
  <cp:category/>
</cp:coreProperties>
</file>