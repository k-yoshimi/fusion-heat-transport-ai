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Solver Selection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4EA8DE"/>
                </a:solidFill>
                <a:latin typeface="Calibri"/>
              </a:defRPr>
            </a:pPr>
            <a:r>
              <a:t>Feature-Cost Function Relationship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BBBCC"/>
                </a:solidFill>
                <a:latin typeface="Calibri"/>
              </a:defRPr>
            </a:pPr>
            <a:r>
              <a:t>Analysis of which solver wins under which conditions</a:t>
            </a:r>
            <a:br/>
            <a:r>
              <a:t>based on 432 parameter combinations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9F43"/>
                </a:solidFill>
                <a:latin typeface="Cambria Math"/>
              </a:defRPr>
            </a:pPr>
            <a:r>
              <a:t>score = L2_error + 0.1 × wall_time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EA8DE"/>
                </a:solidFill>
                <a:latin typeface="Calibri"/>
              </a:defRPr>
            </a:pPr>
            <a:r>
              <a:t>Cost Function 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9F43"/>
                </a:solidFill>
                <a:latin typeface="Cambria Math"/>
              </a:defRPr>
            </a:pPr>
            <a:r>
              <a:t>score = L2_error + λ × wall_time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7680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▶  L2_error: Weighted L2 norm vs reference solution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      L2 = √(∫(T - T_ref)² r dr / ∫ T_ref² r dr)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▶  wall_time: Actual computation time [seconds]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▶  λ = 0.1 (default): Accuracy-focused selection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      λ = 0 → pure accuracy, λ = 1 → speed-focused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▶  Reference: Same Implicit FDM with 4× refinement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50C878"/>
                </a:solidFill>
                <a:latin typeface="Calibri"/>
              </a:defRPr>
            </a:pPr>
            <a:r>
              <a:t>The solver with the LOWEST score wins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EA8DE"/>
                </a:solidFill>
                <a:latin typeface="Calibri"/>
              </a:defRPr>
            </a:pPr>
            <a:r>
              <a:t>12 Features for Solver Prediction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50C878"/>
                </a:solidFill>
                <a:latin typeface="Calibri"/>
              </a:defRPr>
            </a:pPr>
            <a:r>
              <a:t>Problem Params (4)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α (alpha)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nr (grid points)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dt (time step)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t_end (sim time)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10972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50C878"/>
                </a:solidFill>
                <a:latin typeface="Calibri"/>
              </a:defRPr>
            </a:pPr>
            <a:r>
              <a:t>Physical Features (5)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46304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max_abs_gradient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energy_content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max_chi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max_laplacian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T_center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0972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50C878"/>
                </a:solidFill>
                <a:latin typeface="Calibri"/>
              </a:defRPr>
            </a:pPr>
            <a:r>
              <a:t>Derived Features (3)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46304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gradient_sharpness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chi_ratio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problem_stiffness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9F43"/>
                </a:solidFill>
                <a:latin typeface="Calibri"/>
              </a:defRPr>
            </a:pPr>
            <a:r>
              <a:t>Key Derived Feature: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11480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problem_stiffness = α × max_abs_gradient</a:t>
            </a:r>
            <a:br/>
            <a:r>
              <a:t>Captures interaction between nonlinearity and gradient steepness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0292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9F43"/>
                </a:solidFill>
                <a:latin typeface="Calibri"/>
              </a:defRPr>
            </a:pPr>
            <a:r>
              <a:t>For T₀ = 1 - r²: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39496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max_abs_gradient ≈ 2.0 (at r=1)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max_chi = (α)(1.5)α + 0.1 (since |T'| = 2r &gt; 0.5 for r &gt; 0.25)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EA8DE"/>
                </a:solidFill>
                <a:latin typeface="Calibri"/>
              </a:defRPr>
            </a:pPr>
            <a:r>
              <a:t>Analysis Result: Solver Win Distribution</a:t>
            </a:r>
          </a:p>
        </p:txBody>
      </p:sp>
      <p:pic>
        <p:nvPicPr>
          <p:cNvPr id="3" name="Picture 2" descr="solver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5029200" cy="3200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0" y="1097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50C878"/>
                </a:solidFill>
                <a:latin typeface="Calibri"/>
              </a:defRPr>
            </a:pPr>
            <a:r>
              <a:t>Key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1554480"/>
            <a:ext cx="3291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implicit_fdm: 99.5%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  (430 / 432 cases)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spectral_cosine: 0.5%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  (2 / 432 cases)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pinn_stub: 0%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  (NaN errors)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9F43"/>
                </a:solidFill>
                <a:latin typeface="Calibri"/>
              </a:defRPr>
            </a:pPr>
            <a:r>
              <a:t>Conclusion: Implicit FDM dominates due to unconditional stability</a:t>
            </a:r>
            <a:br/>
            <a:r>
              <a:t>of Crank-Nicolson scheme with the threshold-based χ formula.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EA8DE"/>
                </a:solidFill>
                <a:latin typeface="Calibri"/>
              </a:defRPr>
            </a:pPr>
            <a:r>
              <a:t>Feature Importance in Decision Tree</a:t>
            </a:r>
          </a:p>
        </p:txBody>
      </p:sp>
      <p:pic>
        <p:nvPicPr>
          <p:cNvPr id="3" name="Picture 2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5486400" cy="3474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0" y="10972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50C878"/>
                </a:solidFill>
                <a:latin typeface="Calibri"/>
              </a:defRPr>
            </a:pPr>
            <a:r>
              <a:t>Top 5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554480"/>
            <a:ext cx="3017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1. dt (0.29)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2. nr (0.14)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3. t_end (0.14)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4. max_abs_gradient (0.14)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5. max_chi (0.14)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FFFFFF"/>
                </a:solidFill>
                <a:latin typeface="Calibri"/>
              </a:defRPr>
            </a:pPr>
            <a:r>
              <a:t>Interpretation: Time step (dt) is the most critical feature.</a:t>
            </a:r>
            <a:br/>
            <a:r>
              <a:t>The spectral solver requires finer time steps for stability.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EA8DE"/>
                </a:solidFill>
                <a:latin typeface="Calibri"/>
              </a:defRPr>
            </a:pPr>
            <a:r>
              <a:t>Solver Performance vs Alpha</a:t>
            </a:r>
          </a:p>
        </p:txBody>
      </p:sp>
      <p:pic>
        <p:nvPicPr>
          <p:cNvPr id="3" name="Picture 2" descr="alpha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8595360" cy="3017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1148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▶  Spectral solver only wins at α = 0.0 and α = 0.1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▶  For α ≥ 0.2, implicit FDM wins 100% of cases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▶  Higher α → stronger nonlinearity → spectral instability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▶  The threshold χ formula causes numerical issues in spectral method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EA8DE"/>
                </a:solidFill>
                <a:latin typeface="Calibri"/>
              </a:defRPr>
            </a:pPr>
            <a:r>
              <a:t>When Does Spectral Solver Win?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50C878"/>
                </a:solidFill>
                <a:latin typeface="Calibri"/>
              </a:defRPr>
            </a:pPr>
            <a:r>
              <a:t>Spectral wins in only 2 out of 432 cases: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Case 1:  α=0.0, nr=71, dt=0.001, t_end=0.05</a:t>
            </a:r>
            <a:br/>
            <a:r>
              <a:t>Case 2:  α=0.1, nr=31, dt=0.002, t_end=0.1</a:t>
            </a:r>
            <a:br/>
            <a:br/>
            <a:r>
              <a:t>Common characteristics:</a:t>
            </a:r>
            <a:br/>
            <a:r>
              <a:t>  • Very low alpha (α ≤ 0.1) → near-linear diffusion</a:t>
            </a:r>
            <a:br/>
            <a:r>
              <a:t>  • problem_stiffness &lt; 0.27 → weak nonlinearity</a:t>
            </a:r>
            <a:br/>
            <a:r>
              <a:t>  • chi_ratio ≈ 11 → minimal diffusivity variation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9F43"/>
                </a:solidFill>
                <a:latin typeface="Calibri"/>
              </a:defRPr>
            </a:pPr>
            <a:r>
              <a:t>Decision Rule from Tree: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572000"/>
            <a:ext cx="8229600" cy="1371600"/>
          </a:xfrm>
          <a:prstGeom prst="roundRect">
            <a:avLst/>
          </a:prstGeom>
          <a:solidFill>
            <a:srgbClr val="161628"/>
          </a:solidFill>
          <a:ln w="12700">
            <a:solidFill>
              <a:srgbClr val="3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>
                <a:solidFill>
                  <a:srgbClr val="A0E0A0"/>
                </a:solidFill>
                <a:latin typeface="Consolas"/>
              </a:defRPr>
            </a:pPr>
            <a:r>
              <a:t>IF problem_stiffness &lt;= 0.33 AND max_abs_gradient &lt;= 2.71:</a:t>
            </a:r>
            <a:br/>
            <a:r>
              <a:t>    THEN spectral_cosine MAY win</a:t>
            </a:r>
            <a:br/>
            <a:r>
              <a:t>ELSE:</a:t>
            </a:r>
            <a:br/>
            <a:r>
              <a:t>    THEN implicit_fdm wins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EA8DE"/>
                </a:solidFill>
                <a:latin typeface="Calibri"/>
              </a:defRPr>
            </a:pPr>
            <a:r>
              <a:t>FDM Win Rate by dt and nr</a:t>
            </a:r>
          </a:p>
        </p:txBody>
      </p:sp>
      <p:pic>
        <p:nvPicPr>
          <p:cNvPr id="3" name="Picture 2" descr="dt_n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54864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0" y="1371600"/>
            <a:ext cx="2286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BBBCC"/>
                </a:solidFill>
                <a:latin typeface="Calibri"/>
              </a:defRPr>
            </a:pPr>
            <a:r>
              <a:t>Observation:</a:t>
            </a:r>
            <a:br/>
            <a:br/>
            <a:r>
              <a:t>100% FDM wins</a:t>
            </a:r>
            <a:br/>
            <a:r>
              <a:t>across all</a:t>
            </a:r>
            <a:br/>
            <a:r>
              <a:t>dt-nr combinations</a:t>
            </a:r>
            <a:br/>
            <a:br/>
            <a:r>
              <a:t>(Blue = FDM wins)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EA8DE"/>
                </a:solidFill>
                <a:latin typeface="Calibri"/>
              </a:defRPr>
            </a:pPr>
            <a:r>
              <a:t>Why Does Implicit FDM Dominate?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50C878"/>
                </a:solidFill>
                <a:latin typeface="Calibri"/>
              </a:defRPr>
            </a:pPr>
            <a:r>
              <a:t>1. Numerical Stability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411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Crank-Nicolson is unconditionally stable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Handles stiff nonlinear χ correctly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L'Hôpital rule at r=0 is clean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0972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5050"/>
                </a:solidFill>
                <a:latin typeface="Calibri"/>
              </a:defRPr>
            </a:pPr>
            <a:r>
              <a:t>2. Spectral Solver Issues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463040"/>
            <a:ext cx="411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Operator splitting is semi-explicit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Threshold χ causes Gibbs-like issues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Unstable for α &gt; 0.1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50C878"/>
                </a:solidFill>
                <a:latin typeface="Calibri"/>
              </a:defRPr>
            </a:pPr>
            <a:r>
              <a:t>3. Cost Function Favors 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λ = 0.1 means error matters 10× more than time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FDM is slightly slower but much more accurate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Spectral's NaN/Inf errors → automatic disqualification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46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50C878"/>
                </a:solidFill>
                <a:latin typeface="Calibri"/>
              </a:defRPr>
            </a:pPr>
            <a:r>
              <a:t>4. Initial Condition T₀ = 1 - r²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2120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max|dT/dr| = 2 at r=1 → always above threshold 0.5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Nonlinear regime is active for all cases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EA8DE"/>
                </a:solidFill>
                <a:latin typeface="Calibri"/>
              </a:defRPr>
            </a:pPr>
            <a:r>
              <a:t>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50C878"/>
                </a:solidFill>
                <a:latin typeface="Calibri"/>
              </a:defRPr>
            </a:pPr>
            <a:r>
              <a:t>For Users: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✅  Use implicit_fdm as the default solver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✅  Consider spectral only for α &lt; 0.1 (near-linear regime)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✅  ML selector is not needed for current IC (T₀ = 1 - r²)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50C878"/>
                </a:solidFill>
                <a:latin typeface="Calibri"/>
              </a:defRPr>
            </a:pPr>
            <a:r>
              <a:t>For Development: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⚠  Improve spectral solver stability for threshold χ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⚠  Consider implicit treatment of nonlinear term in spectral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⚠  Add more IC types to create diverse training data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⚠  Implement full PINN to provide a third viable option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9F43"/>
                </a:solidFill>
                <a:latin typeface="Calibri"/>
              </a:defRPr>
            </a:pPr>
            <a:r>
              <a:t>The ML selector will become useful when solvers have</a:t>
            </a:r>
            <a:br/>
            <a:r>
              <a:t>more balanced performance across parameter space.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EA8DE"/>
                </a:solidFill>
                <a:latin typeface="Calibri"/>
              </a:defRPr>
            </a:pPr>
            <a: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▶  Analyzed 432 parameter combinations (8α × 3nr × 3dt × 3t_end)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▶  Cost function: score = L2_error + 0.1 × wall_time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▶  Implicit FDM wins 99.5% of cases due to: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      • Unconditional stability of Crank-Nicolson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      • Robust handling of threshold-based χ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▶  Spectral solver only competitive at α ≤ 0.1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▶  Most important feature: dt (time step)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▶  Decision rule: IF problem_stiffness &gt; 0.33 THEN use FDM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EA8DE"/>
                </a:solidFill>
                <a:latin typeface="Calibri"/>
              </a:defRPr>
            </a:pPr>
            <a:r>
              <a:t>Analysis Tools Created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50C878"/>
                </a:solidFill>
                <a:latin typeface="Calibri"/>
              </a:defRPr>
            </a:pPr>
            <a:r>
              <a:t>New Script: docs/analyze_solver_selection.py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▶  Generates/loads training data (432 samples)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▶  Computes solver win distribution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▶  Analyzes feature statistics by winning solver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▶  Trains decision tree and extracts feature importance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▶  Extracts human-readable decision rules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▶  Generates 6 visualization figures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50C878"/>
                </a:solidFill>
                <a:latin typeface="Calibri"/>
              </a:defRPr>
            </a:pPr>
            <a:r>
              <a:t>Generated Figures: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solver_distribution.png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feature_importance.png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alpha_analysis.png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429768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dt_nr_heatmap.png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cost_breakdown.png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alpha_vs_stiffness.png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669280"/>
            <a:ext cx="8229600" cy="731520"/>
          </a:xfrm>
          <a:prstGeom prst="roundRect">
            <a:avLst/>
          </a:prstGeom>
          <a:solidFill>
            <a:srgbClr val="161628"/>
          </a:solidFill>
          <a:ln w="12700">
            <a:solidFill>
              <a:srgbClr val="3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300">
                <a:solidFill>
                  <a:srgbClr val="A0E0A0"/>
                </a:solidFill>
                <a:latin typeface="Consolas"/>
              </a:defRPr>
            </a:pPr>
            <a:r>
              <a:t># Run analysis</a:t>
            </a:r>
            <a:br/>
            <a:r>
              <a:t>python docs/analyze_solver_selection.py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