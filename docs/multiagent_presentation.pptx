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/>
            </a:pPr>
            <a:r>
              <a:t>Multi-Agent Analysis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/>
            </a:pPr>
            <a:r>
              <a:t>Hypothesis-Driven Solver Benchmark Framework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System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t>• Purpose: Automated analysis of numerical solver performance</a:t>
            </a:r>
          </a:p>
          <a:p>
            <a:pPr>
              <a:spcAft>
                <a:spcPts val="1200"/>
              </a:spcAft>
              <a:defRPr sz="2000"/>
            </a:pPr>
            <a:r>
              <a:t>• Approach: Multiple specialized agents working in parallel</a:t>
            </a:r>
          </a:p>
          <a:p>
            <a:pPr>
              <a:spcAft>
                <a:spcPts val="1200"/>
              </a:spcAft>
              <a:defRPr sz="2000"/>
            </a:pPr>
            <a:r>
              <a:t>• Key Features:</a:t>
            </a:r>
          </a:p>
          <a:p>
            <a:pPr>
              <a:spcAft>
                <a:spcPts val="1200"/>
              </a:spcAft>
              <a:defRPr sz="2000"/>
            </a:pPr>
            <a:r>
              <a:t>  - Hypothesis tracking with verification history</a:t>
            </a:r>
          </a:p>
          <a:p>
            <a:pPr>
              <a:spcAft>
                <a:spcPts val="1200"/>
              </a:spcAft>
              <a:defRPr sz="2000"/>
            </a:pPr>
            <a:r>
              <a:t>  - Parallel execution for speed improvement</a:t>
            </a:r>
          </a:p>
          <a:p>
            <a:pPr>
              <a:spcAft>
                <a:spcPts val="1200"/>
              </a:spcAft>
              <a:defRPr sz="2000"/>
            </a:pPr>
            <a:r>
              <a:t>  - Automatic report generation</a:t>
            </a:r>
          </a:p>
          <a:p>
            <a:pPr>
              <a:spcAft>
                <a:spcPts val="1200"/>
              </a:spcAft>
              <a:defRPr sz="2000"/>
            </a:pPr>
            <a:r>
              <a:t>  - Iterative refinement through verification cycles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Multi-Agent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00400" y="1188720"/>
            <a:ext cx="2743200" cy="731520"/>
          </a:xfrm>
          <a:prstGeom prst="roundRect">
            <a:avLst/>
          </a:prstGeom>
          <a:solidFill>
            <a:srgbClr val="4682B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Coordinator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743200"/>
            <a:ext cx="1645920" cy="914400"/>
          </a:xfrm>
          <a:prstGeom prst="roundRect">
            <a:avLst/>
          </a:prstGeom>
          <a:solidFill>
            <a:srgbClr val="3CB37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Statistics</a:t>
            </a:r>
            <a:br/>
            <a:r>
              <a:t>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2743200"/>
            <a:ext cx="1645920" cy="914400"/>
          </a:xfrm>
          <a:prstGeom prst="roundRect">
            <a:avLst/>
          </a:prstGeom>
          <a:solidFill>
            <a:srgbClr val="FFA5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Feature</a:t>
            </a:r>
            <a:br/>
            <a:r>
              <a:t>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2743200"/>
            <a:ext cx="1645920" cy="914400"/>
          </a:xfrm>
          <a:prstGeom prst="roundRect">
            <a:avLst/>
          </a:prstGeom>
          <a:solidFill>
            <a:srgbClr val="9370D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Pattern</a:t>
            </a:r>
            <a:br/>
            <a:r>
              <a:t>Agent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2743200"/>
            <a:ext cx="1645920" cy="914400"/>
          </a:xfrm>
          <a:prstGeom prst="roundRect">
            <a:avLst/>
          </a:prstGeom>
          <a:solidFill>
            <a:srgbClr val="DC143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Hypothesis</a:t>
            </a:r>
            <a:br/>
            <a:r>
              <a:t>Agent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4114800"/>
            <a:ext cx="4572000" cy="548640"/>
          </a:xfrm>
          <a:prstGeom prst="rect">
            <a:avLst/>
          </a:prstGeom>
          <a:solidFill>
            <a:srgbClr val="69696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ThreadPoolExecutor (max_workers=4)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5029200"/>
            <a:ext cx="2743200" cy="731520"/>
          </a:xfrm>
          <a:prstGeom prst="roundRect">
            <a:avLst/>
          </a:prstGeom>
          <a:solidFill>
            <a:srgbClr val="228B2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Synthesis Report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Statistics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/>
            </a:pPr>
            <a:r>
              <a:t>Computes statistical summaries of solver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Tasks: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Calculate solver distribution (win rates)</a:t>
            </a:r>
          </a:p>
          <a:p>
            <a:pPr>
              <a:spcAft>
                <a:spcPts val="800"/>
              </a:spcAft>
              <a:defRPr sz="1800"/>
            </a:pPr>
            <a:r>
              <a:t>• Compute feature means by solver type</a:t>
            </a:r>
          </a:p>
          <a:p>
            <a:pPr>
              <a:spcAft>
                <a:spcPts val="800"/>
              </a:spcAft>
              <a:defRPr sz="1800"/>
            </a:pPr>
            <a:r>
              <a:t>• Identify performance patterns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Output: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→ Solver distribution percentages</a:t>
            </a:r>
          </a:p>
          <a:p>
            <a:pPr>
              <a:spcAft>
                <a:spcPts val="600"/>
              </a:spcAft>
              <a:defRPr sz="1800"/>
            </a:pPr>
            <a:r>
              <a:t>→ Feature statistics by solver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Feature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/>
            </a:pPr>
            <a:r>
              <a:t>Analyzes feature importance for solver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Tasks: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Train decision tree on solver selection data</a:t>
            </a:r>
          </a:p>
          <a:p>
            <a:pPr>
              <a:spcAft>
                <a:spcPts val="800"/>
              </a:spcAft>
              <a:defRPr sz="1800"/>
            </a:pPr>
            <a:r>
              <a:t>• Count feature usage in tree splits</a:t>
            </a:r>
          </a:p>
          <a:p>
            <a:pPr>
              <a:spcAft>
                <a:spcPts val="800"/>
              </a:spcAft>
              <a:defRPr sz="1800"/>
            </a:pPr>
            <a:r>
              <a:t>• Rank features by importance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Output: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→ Feature importance scores</a:t>
            </a:r>
          </a:p>
          <a:p>
            <a:pPr>
              <a:spcAft>
                <a:spcPts val="600"/>
              </a:spcAft>
              <a:defRPr sz="1800"/>
            </a:pPr>
            <a:r>
              <a:t>→ Top 5 most predictive features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Pattern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/>
            </a:pPr>
            <a:r>
              <a:t>Extracts decision rules from trained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Tasks: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Traverse decision tree structure</a:t>
            </a:r>
          </a:p>
          <a:p>
            <a:pPr>
              <a:spcAft>
                <a:spcPts val="800"/>
              </a:spcAft>
              <a:defRPr sz="1800"/>
            </a:pPr>
            <a:r>
              <a:t>• Extract IF-THEN rules</a:t>
            </a:r>
          </a:p>
          <a:p>
            <a:pPr>
              <a:spcAft>
                <a:spcPts val="800"/>
              </a:spcAft>
              <a:defRPr sz="1800"/>
            </a:pPr>
            <a:r>
              <a:t>• Identify key decision thresholds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Output: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→ Human-readable decision rules</a:t>
            </a:r>
          </a:p>
          <a:p>
            <a:pPr>
              <a:spcAft>
                <a:spcPts val="600"/>
              </a:spcAft>
              <a:defRPr sz="1800"/>
            </a:pPr>
            <a:r>
              <a:t>→ Threshold values for each feature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Hypothesis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/>
            </a:pPr>
            <a:r>
              <a:t>Tests and tracks scientific hypotheses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Tasks: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Evaluate hypotheses against new data</a:t>
            </a:r>
          </a:p>
          <a:p>
            <a:pPr>
              <a:spcAft>
                <a:spcPts val="800"/>
              </a:spcAft>
              <a:defRPr sz="1800"/>
            </a:pPr>
            <a:r>
              <a:t>• Track verification history</a:t>
            </a:r>
          </a:p>
          <a:p>
            <a:pPr>
              <a:spcAft>
                <a:spcPts val="800"/>
              </a:spcAft>
              <a:defRPr sz="1800"/>
            </a:pPr>
            <a:r>
              <a:t>• Update confidence scores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Output: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→ Hypothesis status (confirmed/rejected)</a:t>
            </a:r>
          </a:p>
          <a:p>
            <a:pPr>
              <a:spcAft>
                <a:spcPts val="600"/>
              </a:spcAft>
              <a:defRPr sz="1800"/>
            </a:pPr>
            <a:r>
              <a:t>→ Confidence scores</a:t>
            </a:r>
          </a:p>
          <a:p>
            <a:pPr>
              <a:spcAft>
                <a:spcPts val="600"/>
              </a:spcAft>
              <a:defRPr sz="1800"/>
            </a:pPr>
            <a:r>
              <a:t>→ Verification timeline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Parallel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t>Implementation: Python concurrent.futures.ThreadPoolExecutor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Benefits:</a:t>
            </a:r>
          </a:p>
          <a:p>
            <a:pPr>
              <a:spcAft>
                <a:spcPts val="1200"/>
              </a:spcAft>
              <a:defRPr sz="2000"/>
            </a:pPr>
            <a:r>
              <a:t>  - ~2x speedup with 4 agents</a:t>
            </a:r>
          </a:p>
          <a:p>
            <a:pPr>
              <a:spcAft>
                <a:spcPts val="1200"/>
              </a:spcAft>
              <a:defRPr sz="2000"/>
            </a:pPr>
            <a:r>
              <a:t>  - Non-blocking execution</a:t>
            </a:r>
          </a:p>
          <a:p>
            <a:pPr>
              <a:spcAft>
                <a:spcPts val="1200"/>
              </a:spcAft>
              <a:defRPr sz="2000"/>
            </a:pPr>
            <a:r>
              <a:t>  - Automatic result aggregation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Code Pattern:</a:t>
            </a:r>
          </a:p>
          <a:p>
            <a:pPr>
              <a:spcAft>
                <a:spcPts val="1200"/>
              </a:spcAft>
              <a:defRPr sz="2000"/>
            </a:pPr>
            <a:r>
              <a:t>  with ThreadPoolExecutor(max_workers=4) as executor:</a:t>
            </a:r>
          </a:p>
          <a:p>
            <a:pPr>
              <a:spcAft>
                <a:spcPts val="1200"/>
              </a:spcAft>
              <a:defRPr sz="2000"/>
            </a:pPr>
            <a:r>
              <a:t>      futures = {executor.submit(agent, data): name}</a:t>
            </a:r>
          </a:p>
          <a:p>
            <a:pPr>
              <a:spcAft>
                <a:spcPts val="1200"/>
              </a:spcAft>
              <a:defRPr sz="2000"/>
            </a:pPr>
            <a:r>
              <a:t>      for future in as_completed(futures):</a:t>
            </a:r>
          </a:p>
          <a:p>
            <a:pPr>
              <a:spcAft>
                <a:spcPts val="1200"/>
              </a:spcAft>
              <a:defRPr sz="2000"/>
            </a:pPr>
            <a:r>
              <a:t>          results[name] = future.result()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Experiment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 sz="1400"/>
                      </a:pPr>
                      <a:r>
                        <a:t>Solver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b="1" sz="1400"/>
                      </a:pPr>
                      <a:r>
                        <a:t>Runs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b="1" sz="1400"/>
                      </a:pPr>
                      <a:r>
                        <a:t>Stable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b="1" sz="1400"/>
                      </a:pPr>
                      <a:r>
                        <a:t>Avg 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b="1" sz="1400"/>
                      </a:pPr>
                      <a:r>
                        <a:t>Avg Time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implicit_fdm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0.169490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7.14ms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spectral_cosine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76.9%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0.088305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t>9.47ms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Hypothesis Verification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8B22"/>
                </a:solidFill>
              </a:defRPr>
            </a:pPr>
            <a:r>
              <a:t>[O] H1: Smaller dt improves spectral solver stability</a:t>
            </a:r>
          </a:p>
          <a:p>
            <a:pPr>
              <a:defRPr sz="1400">
                <a:solidFill>
                  <a:srgbClr val="646464"/>
                </a:solidFill>
              </a:defRPr>
            </a:pPr>
            <a:r>
              <a:t>     Confidence: 100% | Verifications: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9659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08080"/>
                </a:solidFill>
              </a:defRPr>
            </a:pPr>
            <a:r>
              <a:t>[?] H3: FDM is unconditionally stable for any dt</a:t>
            </a:r>
          </a:p>
          <a:p>
            <a:pPr>
              <a:defRPr sz="1400">
                <a:solidFill>
                  <a:srgbClr val="646464"/>
                </a:solidFill>
              </a:defRPr>
            </a:pPr>
            <a:r>
              <a:t>     Confidence: 0% | Verifications: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DC143C"/>
                </a:solidFill>
              </a:defRPr>
            </a:pPr>
            <a:r>
              <a:t>[X] H4: Different initial conditions lead to different optimal solvers</a:t>
            </a:r>
          </a:p>
          <a:p>
            <a:pPr>
              <a:defRPr sz="1400">
                <a:solidFill>
                  <a:srgbClr val="646464"/>
                </a:solidFill>
              </a:defRPr>
            </a:pPr>
            <a:r>
              <a:t>     Confidence: 0% | Verifications: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5204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08080"/>
                </a:solidFill>
              </a:defRPr>
            </a:pPr>
            <a:r>
              <a:t>[?] H5: In linear regime (|dT/dr| &lt; 0.5), both solvers perform equally well</a:t>
            </a:r>
          </a:p>
          <a:p>
            <a:pPr>
              <a:defRPr sz="1400">
                <a:solidFill>
                  <a:srgbClr val="646464"/>
                </a:solidFill>
              </a:defRPr>
            </a:pPr>
            <a:r>
              <a:t>     Confidence: 0% | Verifications: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976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08080"/>
                </a:solidFill>
              </a:defRPr>
            </a:pPr>
            <a:r>
              <a:t>[?] H6: Cost function parameter lambda &gt; 5 favors spectral solver</a:t>
            </a:r>
          </a:p>
          <a:p>
            <a:pPr>
              <a:defRPr sz="1400">
                <a:solidFill>
                  <a:srgbClr val="646464"/>
                </a:solidFill>
              </a:defRPr>
            </a:pPr>
            <a:r>
              <a:t>     Confidence: 0% | Verifications: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749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8B22"/>
                </a:solidFill>
              </a:defRPr>
            </a:pPr>
            <a:r>
              <a:t>[O] H7: Spectral solver fails with NaN for alpha &gt;= 0.2</a:t>
            </a:r>
          </a:p>
          <a:p>
            <a:pPr>
              <a:defRPr sz="1400">
                <a:solidFill>
                  <a:srgbClr val="646464"/>
                </a:solidFill>
              </a:defRPr>
            </a:pPr>
            <a:r>
              <a:t>     Confidence: 100% | Verifications: 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H1: Smaller dt improves spectral solver 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682B4"/>
                </a:solidFill>
              </a:defRPr>
            </a:pPr>
            <a:r>
              <a:t>Background (Why this hypothesis?)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Spectral solver uses explicit time stepping for nonlinear terms</a:t>
            </a:r>
          </a:p>
          <a:p>
            <a:pPr>
              <a:spcAft>
                <a:spcPts val="400"/>
              </a:spcAft>
              <a:defRPr sz="1400"/>
            </a:pPr>
            <a:r>
              <a:t>• Explicit methods have CFL-like stability constraints</a:t>
            </a:r>
          </a:p>
          <a:p>
            <a:pPr>
              <a:spcAft>
                <a:spcPts val="400"/>
              </a:spcAft>
              <a:defRPr sz="1400"/>
            </a:pPr>
            <a:r>
              <a:t>• Larger dt may cause numerical oscillations or divergence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682B4"/>
                </a:solidFill>
              </a:defRPr>
            </a:pPr>
            <a:r>
              <a:t>Verification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Tested spectral solver with dt = 0.002, 0.001, 0.0005, 0.0002, 0.0001</a:t>
            </a:r>
          </a:p>
          <a:p>
            <a:pPr>
              <a:spcAft>
                <a:spcPts val="400"/>
              </a:spcAft>
              <a:defRPr sz="1400"/>
            </a:pPr>
            <a:r>
              <a:t>• Fixed parameters: nr=51, t_end=0.1, alpha=0.0~1.0</a:t>
            </a:r>
          </a:p>
          <a:p>
            <a:pPr>
              <a:spcAft>
                <a:spcPts val="400"/>
              </a:spcAft>
              <a:defRPr sz="1400"/>
            </a:pPr>
            <a:r>
              <a:t>• Measured stability rate (% of runs without NaN/divergence)</a:t>
            </a:r>
          </a:p>
          <a:p>
            <a:pPr>
              <a:spcAft>
                <a:spcPts val="400"/>
              </a:spcAft>
              <a:defRPr sz="1400"/>
            </a:pPr>
            <a:r>
              <a:t>• Repeated across 104 parameter combinations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682B4"/>
                </a:solidFill>
              </a:defRPr>
            </a:pPr>
            <a:r>
              <a:t>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0624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dt=0.0001: 100% stable across all alpha values</a:t>
            </a:r>
          </a:p>
          <a:p>
            <a:pPr>
              <a:spcAft>
                <a:spcPts val="400"/>
              </a:spcAft>
              <a:defRPr sz="1400"/>
            </a:pPr>
            <a:r>
              <a:t>• dt=0.0005: 100% stable</a:t>
            </a:r>
          </a:p>
          <a:p>
            <a:pPr>
              <a:spcAft>
                <a:spcPts val="400"/>
              </a:spcAft>
              <a:defRPr sz="1400"/>
            </a:pPr>
            <a:r>
              <a:t>• dt=0.001: 50% stable (fails for high alpha)</a:t>
            </a:r>
          </a:p>
          <a:p>
            <a:pPr>
              <a:spcAft>
                <a:spcPts val="400"/>
              </a:spcAft>
              <a:defRPr sz="1400"/>
            </a:pPr>
            <a:r>
              <a:t>• dt=0.002: 0% stable (fails for all alpha &gt; 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486400"/>
            <a:ext cx="8229600" cy="548640"/>
          </a:xfrm>
          <a:prstGeom prst="roundRect">
            <a:avLst/>
          </a:prstGeom>
          <a:solidFill>
            <a:srgbClr val="228B2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Confirmed: Smaller dt significantly improves stability (100% at dt&lt;=0.0005)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H7: Spectral solver fails with NaN for alpha &gt;= 0.2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682B4"/>
                </a:solidFill>
              </a:defRPr>
            </a:pPr>
            <a:r>
              <a:t>Background (Why this hypothesis?)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The chi formula has a threshold at |dT/dr| = 0.5</a:t>
            </a:r>
          </a:p>
          <a:p>
            <a:pPr>
              <a:spcAft>
                <a:spcPts val="400"/>
              </a:spcAft>
              <a:defRPr sz="1400"/>
            </a:pPr>
            <a:r>
              <a:t>• Higher alpha means steeper nonlinearity above threshold</a:t>
            </a:r>
          </a:p>
          <a:p>
            <a:pPr>
              <a:spcAft>
                <a:spcPts val="400"/>
              </a:spcAft>
              <a:defRPr sz="1400"/>
            </a:pPr>
            <a:r>
              <a:t>• Spectral methods handle smooth functions well, but sharp transitions poorly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682B4"/>
                </a:solidFill>
              </a:defRPr>
            </a:pPr>
            <a:r>
              <a:t>Verification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Tested spectral solver with alpha = 0.0, 0.1, 0.2, 0.5, 0.8, 1.0</a:t>
            </a:r>
          </a:p>
          <a:p>
            <a:pPr>
              <a:spcAft>
                <a:spcPts val="400"/>
              </a:spcAft>
              <a:defRPr sz="1400"/>
            </a:pPr>
            <a:r>
              <a:t>• Fixed parameters: nr=51, dt=0.001, t_end=0.1</a:t>
            </a:r>
          </a:p>
          <a:p>
            <a:pPr>
              <a:spcAft>
                <a:spcPts val="400"/>
              </a:spcAft>
              <a:defRPr sz="1400"/>
            </a:pPr>
            <a:r>
              <a:t>• Checked for NaN, Inf, or values &gt; 100 (divergence)</a:t>
            </a:r>
          </a:p>
          <a:p>
            <a:pPr>
              <a:spcAft>
                <a:spcPts val="400"/>
              </a:spcAft>
              <a:defRPr sz="1400"/>
            </a:pPr>
            <a:r>
              <a:t>• Compared with implicit FDM as 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682B4"/>
                </a:solidFill>
              </a:defRPr>
            </a:pPr>
            <a:r>
              <a:t>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0624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alpha=0.0: Spectral stable (max T = 1.00)</a:t>
            </a:r>
          </a:p>
          <a:p>
            <a:pPr>
              <a:spcAft>
                <a:spcPts val="400"/>
              </a:spcAft>
              <a:defRPr sz="1400"/>
            </a:pPr>
            <a:r>
              <a:t>• alpha=0.1: Spectral stable (max T = 1.01)</a:t>
            </a:r>
          </a:p>
          <a:p>
            <a:pPr>
              <a:spcAft>
                <a:spcPts val="400"/>
              </a:spcAft>
              <a:defRPr sz="1400"/>
            </a:pPr>
            <a:r>
              <a:t>• alpha&gt;=0.2: Spectral produces NaN or diverges</a:t>
            </a:r>
          </a:p>
          <a:p>
            <a:pPr>
              <a:spcAft>
                <a:spcPts val="400"/>
              </a:spcAft>
              <a:defRPr sz="1400"/>
            </a:pPr>
            <a:r>
              <a:t>• FDM remains stable for all alpha values tested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486400"/>
            <a:ext cx="8229600" cy="548640"/>
          </a:xfrm>
          <a:prstGeom prst="roundRect">
            <a:avLst/>
          </a:prstGeom>
          <a:solidFill>
            <a:srgbClr val="228B2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Confirmed: Spectral fails for alpha &gt;= 0.2 with default dt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H4: Different initial conditions lead to different optimal solvers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682B4"/>
                </a:solidFill>
              </a:defRPr>
            </a:pPr>
            <a:r>
              <a:t>Background (Why this hypothesis?)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Initial condition affects gradient profile |dT/dr|</a:t>
            </a:r>
          </a:p>
          <a:p>
            <a:pPr>
              <a:spcAft>
                <a:spcPts val="400"/>
              </a:spcAft>
              <a:defRPr sz="1400"/>
            </a:pPr>
            <a:r>
              <a:t>• Chi activation depends on whether |dT/dr| &gt; 0.5</a:t>
            </a:r>
          </a:p>
          <a:p>
            <a:pPr>
              <a:spcAft>
                <a:spcPts val="400"/>
              </a:spcAft>
              <a:defRPr sz="1400"/>
            </a:pPr>
            <a:r>
              <a:t>• Different ICs may have different gradient characteristics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682B4"/>
                </a:solidFill>
              </a:defRPr>
            </a:pPr>
            <a:r>
              <a:t>Verification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Tested 4 IC types: parabola (1-r²), gaussian, cosine, sine</a:t>
            </a:r>
          </a:p>
          <a:p>
            <a:pPr>
              <a:spcAft>
                <a:spcPts val="400"/>
              </a:spcAft>
              <a:defRPr sz="1400"/>
            </a:pPr>
            <a:r>
              <a:t>• Compared L2 error and computation time for each solver</a:t>
            </a:r>
          </a:p>
          <a:p>
            <a:pPr>
              <a:spcAft>
                <a:spcPts val="400"/>
              </a:spcAft>
              <a:defRPr sz="1400"/>
            </a:pPr>
            <a:r>
              <a:t>• Used cost function: score = L2_error + 0.1 × wall_time</a:t>
            </a:r>
          </a:p>
          <a:p>
            <a:pPr>
              <a:spcAft>
                <a:spcPts val="400"/>
              </a:spcAft>
              <a:defRPr sz="1400"/>
            </a:pPr>
            <a:r>
              <a:t>• Ran 24 experiments (4 ICs × 3 alpha × 2 solvers)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682B4"/>
                </a:solidFill>
              </a:defRPr>
            </a:pPr>
            <a:r>
              <a:t>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0624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Parabola IC: Spectral wins (lower L2 error)</a:t>
            </a:r>
          </a:p>
          <a:p>
            <a:pPr>
              <a:spcAft>
                <a:spcPts val="400"/>
              </a:spcAft>
              <a:defRPr sz="1400"/>
            </a:pPr>
            <a:r>
              <a:t>• Cosine IC: Spectral wins</a:t>
            </a:r>
          </a:p>
          <a:p>
            <a:pPr>
              <a:spcAft>
                <a:spcPts val="400"/>
              </a:spcAft>
              <a:defRPr sz="1400"/>
            </a:pPr>
            <a:r>
              <a:t>• Sine IC: Spectral wins</a:t>
            </a:r>
          </a:p>
          <a:p>
            <a:pPr>
              <a:spcAft>
                <a:spcPts val="400"/>
              </a:spcAft>
              <a:defRPr sz="1400"/>
            </a:pPr>
            <a:r>
              <a:t>• Gaussian IC: FDM wins (spectral unstable)</a:t>
            </a:r>
          </a:p>
          <a:p>
            <a:pPr>
              <a:spcAft>
                <a:spcPts val="400"/>
              </a:spcAft>
              <a:defRPr sz="1400"/>
            </a:pPr>
            <a:r>
              <a:t>• Gaussian has sharper gradient near r=0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486400"/>
            <a:ext cx="8229600" cy="548640"/>
          </a:xfrm>
          <a:prstGeom prst="roundRect">
            <a:avLst/>
          </a:prstGeom>
          <a:solidFill>
            <a:srgbClr val="228B2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Confirmed: IC type affects winner (gaussian favors FDM)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H3: FDM is unconditionally stable for any dt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682B4"/>
                </a:solidFill>
              </a:defRPr>
            </a:pPr>
            <a:r>
              <a:t>Background (Why this hypothesis?)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Implicit FDM (Crank-Nicolson) is theoretically A-stable</a:t>
            </a:r>
          </a:p>
          <a:p>
            <a:pPr>
              <a:spcAft>
                <a:spcPts val="400"/>
              </a:spcAft>
              <a:defRPr sz="1400"/>
            </a:pPr>
            <a:r>
              <a:t>• Nonlinear terms are handled implicitly via iteration</a:t>
            </a:r>
          </a:p>
          <a:p>
            <a:pPr>
              <a:spcAft>
                <a:spcPts val="400"/>
              </a:spcAft>
              <a:defRPr sz="1400"/>
            </a:pPr>
            <a:r>
              <a:t>• Should remain stable even with large time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682B4"/>
                </a:solidFill>
              </a:defRPr>
            </a:pPr>
            <a:r>
              <a:t>Verification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Tested implicit FDM with dt = 0.001, 0.005, 0.01, 0.02, 0.05</a:t>
            </a:r>
          </a:p>
          <a:p>
            <a:pPr>
              <a:spcAft>
                <a:spcPts val="400"/>
              </a:spcAft>
              <a:defRPr sz="1400"/>
            </a:pPr>
            <a:r>
              <a:t>• Used alpha = 1.0 (strong nonlinearity)</a:t>
            </a:r>
          </a:p>
          <a:p>
            <a:pPr>
              <a:spcAft>
                <a:spcPts val="400"/>
              </a:spcAft>
              <a:defRPr sz="1400"/>
            </a:pPr>
            <a:r>
              <a:t>• Checked for physical bounds: 0 &lt;= T &lt;= 1</a:t>
            </a:r>
          </a:p>
          <a:p>
            <a:pPr>
              <a:spcAft>
                <a:spcPts val="400"/>
              </a:spcAft>
              <a:defRPr sz="1400"/>
            </a:pPr>
            <a:r>
              <a:t>• Ran 80 experiments across parameter 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4682B4"/>
                </a:solidFill>
              </a:defRPr>
            </a:pPr>
            <a:r>
              <a:t>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20624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100% stability rate across all tested dt values</a:t>
            </a:r>
          </a:p>
          <a:p>
            <a:pPr>
              <a:spcAft>
                <a:spcPts val="400"/>
              </a:spcAft>
              <a:defRPr sz="1400"/>
            </a:pPr>
            <a:r>
              <a:t>• Even dt=0.05 (50x larger than default) remains stable</a:t>
            </a:r>
          </a:p>
          <a:p>
            <a:pPr>
              <a:spcAft>
                <a:spcPts val="400"/>
              </a:spcAft>
              <a:defRPr sz="1400"/>
            </a:pPr>
            <a:r>
              <a:t>• All solutions maintain physical bounds</a:t>
            </a:r>
          </a:p>
          <a:p>
            <a:pPr>
              <a:spcAft>
                <a:spcPts val="400"/>
              </a:spcAft>
              <a:defRPr sz="1400"/>
            </a:pPr>
            <a:r>
              <a:t>• No NaN or divergence observed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486400"/>
            <a:ext cx="8229600" cy="548640"/>
          </a:xfrm>
          <a:prstGeom prst="roundRect">
            <a:avLst/>
          </a:prstGeom>
          <a:solidFill>
            <a:srgbClr val="228B2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Confirmed: FDM is unconditionally stable (100% rate)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Key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t>• H1 Confirmed: Smaller dt improves spectral stability</a:t>
            </a:r>
          </a:p>
          <a:p>
            <a:pPr>
              <a:spcAft>
                <a:spcPts val="1200"/>
              </a:spcAft>
              <a:defRPr sz="2000"/>
            </a:pPr>
            <a:r>
              <a:t>  - dt=0.0001: 100% stable</a:t>
            </a:r>
          </a:p>
          <a:p>
            <a:pPr>
              <a:spcAft>
                <a:spcPts val="1200"/>
              </a:spcAft>
              <a:defRPr sz="2000"/>
            </a:pPr>
            <a:r>
              <a:t>  - dt=0.002: 0% stable</a:t>
            </a:r>
          </a:p>
          <a:p>
            <a:pPr>
              <a:spcAft>
                <a:spcPts val="1200"/>
              </a:spcAft>
              <a:defRPr sz="2000"/>
            </a:pPr>
            <a:r>
              <a:t>• </a:t>
            </a:r>
          </a:p>
          <a:p>
            <a:pPr>
              <a:spcAft>
                <a:spcPts val="1200"/>
              </a:spcAft>
              <a:defRPr sz="2000"/>
            </a:pPr>
            <a:r>
              <a:t>• H7 Confirmed: Spectral fails for high alpha</a:t>
            </a:r>
          </a:p>
          <a:p>
            <a:pPr>
              <a:spcAft>
                <a:spcPts val="1200"/>
              </a:spcAft>
              <a:defRPr sz="2000"/>
            </a:pPr>
            <a:r>
              <a:t>  - Instability threshold around alpha &gt;= 0.2</a:t>
            </a:r>
          </a:p>
          <a:p>
            <a:pPr>
              <a:spcAft>
                <a:spcPts val="1200"/>
              </a:spcAft>
              <a:defRPr sz="2000"/>
            </a:pPr>
            <a:r>
              <a:t>• </a:t>
            </a:r>
          </a:p>
          <a:p>
            <a:pPr>
              <a:spcAft>
                <a:spcPts val="1200"/>
              </a:spcAft>
              <a:defRPr sz="2000"/>
            </a:pPr>
            <a:r>
              <a:t>• FDM Characteristics:</a:t>
            </a:r>
          </a:p>
          <a:p>
            <a:pPr>
              <a:spcAft>
                <a:spcPts val="1200"/>
              </a:spcAft>
              <a:defRPr sz="2000"/>
            </a:pPr>
            <a:r>
              <a:t>  - Unconditionally stable (100% for all parameters)</a:t>
            </a:r>
          </a:p>
          <a:p>
            <a:pPr>
              <a:spcAft>
                <a:spcPts val="1200"/>
              </a:spcAft>
              <a:defRPr sz="2000"/>
            </a:pPr>
            <a:r>
              <a:t>  - Higher L2 error but more reliable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Verification 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t>• 1. Run Experiments</a:t>
            </a:r>
          </a:p>
          <a:p>
            <a:pPr>
              <a:spcAft>
                <a:spcPts val="1200"/>
              </a:spcAft>
              <a:defRPr sz="2000"/>
            </a:pPr>
            <a:r>
              <a:t>   - Execute predefined parameter sweeps</a:t>
            </a:r>
          </a:p>
          <a:p>
            <a:pPr>
              <a:spcAft>
                <a:spcPts val="1200"/>
              </a:spcAft>
              <a:defRPr sz="2000"/>
            </a:pPr>
            <a:r>
              <a:t>   - Store results in CSV database</a:t>
            </a:r>
          </a:p>
          <a:p>
            <a:pPr>
              <a:spcAft>
                <a:spcPts val="1200"/>
              </a:spcAft>
              <a:defRPr sz="2000"/>
            </a:pPr>
            <a:r>
              <a:t>• </a:t>
            </a:r>
          </a:p>
          <a:p>
            <a:pPr>
              <a:spcAft>
                <a:spcPts val="1200"/>
              </a:spcAft>
              <a:defRPr sz="2000"/>
            </a:pPr>
            <a:r>
              <a:t>• 2. Test Hypotheses</a:t>
            </a:r>
          </a:p>
          <a:p>
            <a:pPr>
              <a:spcAft>
                <a:spcPts val="1200"/>
              </a:spcAft>
              <a:defRPr sz="2000"/>
            </a:pPr>
            <a:r>
              <a:t>   - Evaluate each hypothesis against new data</a:t>
            </a:r>
          </a:p>
          <a:p>
            <a:pPr>
              <a:spcAft>
                <a:spcPts val="1200"/>
              </a:spcAft>
              <a:defRPr sz="2000"/>
            </a:pPr>
            <a:r>
              <a:t>   - Update status (confirmed/rejected/inconclusive)</a:t>
            </a:r>
          </a:p>
          <a:p>
            <a:pPr>
              <a:spcAft>
                <a:spcPts val="1200"/>
              </a:spcAft>
              <a:defRPr sz="2000"/>
            </a:pPr>
            <a:r>
              <a:t>• </a:t>
            </a:r>
          </a:p>
          <a:p>
            <a:pPr>
              <a:spcAft>
                <a:spcPts val="1200"/>
              </a:spcAft>
              <a:defRPr sz="2000"/>
            </a:pPr>
            <a:r>
              <a:t>• 3. Update Confidence</a:t>
            </a:r>
          </a:p>
          <a:p>
            <a:pPr>
              <a:spcAft>
                <a:spcPts val="1200"/>
              </a:spcAft>
              <a:defRPr sz="2000"/>
            </a:pPr>
            <a:r>
              <a:t>   - +20% for confirmed, -10% for rejected</a:t>
            </a:r>
          </a:p>
          <a:p>
            <a:pPr>
              <a:spcAft>
                <a:spcPts val="1200"/>
              </a:spcAft>
              <a:defRPr sz="2000"/>
            </a:pPr>
            <a:r>
              <a:t>   - Track verification history</a:t>
            </a:r>
          </a:p>
          <a:p>
            <a:pPr>
              <a:spcAft>
                <a:spcPts val="1200"/>
              </a:spcAft>
              <a:defRPr sz="2000"/>
            </a:pPr>
            <a:r>
              <a:t>• </a:t>
            </a:r>
          </a:p>
          <a:p>
            <a:pPr>
              <a:spcAft>
                <a:spcPts val="1200"/>
              </a:spcAft>
              <a:defRPr sz="2000"/>
            </a:pPr>
            <a:r>
              <a:t>• 4. Generate Report</a:t>
            </a:r>
          </a:p>
          <a:p>
            <a:pPr>
              <a:spcAft>
                <a:spcPts val="1200"/>
              </a:spcAft>
              <a:defRPr sz="2000"/>
            </a:pPr>
            <a:r>
              <a:t>   - Markdown summary with conclusions</a:t>
            </a:r>
          </a:p>
          <a:p>
            <a:pPr>
              <a:spcAft>
                <a:spcPts val="1200"/>
              </a:spcAft>
              <a:defRPr sz="2000"/>
            </a:pPr>
            <a:r>
              <a:t>   - Recommended next steps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Usage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t>Auto mode (full pipeline):</a:t>
            </a:r>
          </a:p>
          <a:p>
            <a:pPr>
              <a:spcAft>
                <a:spcPts val="1200"/>
              </a:spcAft>
              <a:defRPr sz="2000"/>
            </a:pPr>
            <a:r>
              <a:t>  python docs/analysis/experiment_framework.py --auto 3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Interactive mode:</a:t>
            </a:r>
          </a:p>
          <a:p>
            <a:pPr>
              <a:spcAft>
                <a:spcPts val="1200"/>
              </a:spcAft>
              <a:defRPr sz="2000"/>
            </a:pPr>
            <a:r>
              <a:t>  python docs/analysis/experiment_framework.py -i</a:t>
            </a:r>
          </a:p>
          <a:p>
            <a:pPr>
              <a:spcAft>
                <a:spcPts val="1200"/>
              </a:spcAft>
              <a:defRPr sz="2000"/>
            </a:pPr>
          </a:p>
          <a:p>
            <a:pPr>
              <a:spcAft>
                <a:spcPts val="1200"/>
              </a:spcAft>
              <a:defRPr sz="2000"/>
            </a:pPr>
            <a:r>
              <a:t>Commands:</a:t>
            </a:r>
          </a:p>
          <a:p>
            <a:pPr>
              <a:spcAft>
                <a:spcPts val="1200"/>
              </a:spcAft>
              <a:defRPr sz="2000"/>
            </a:pPr>
            <a:r>
              <a:t>  run stability_map  - Run experiment</a:t>
            </a:r>
          </a:p>
          <a:p>
            <a:pPr>
              <a:spcAft>
                <a:spcPts val="1200"/>
              </a:spcAft>
              <a:defRPr sz="2000"/>
            </a:pPr>
            <a:r>
              <a:t>  test H1           - Test hypothesis</a:t>
            </a:r>
          </a:p>
          <a:p>
            <a:pPr>
              <a:spcAft>
                <a:spcPts val="1200"/>
              </a:spcAft>
              <a:defRPr sz="2000"/>
            </a:pPr>
            <a:r>
              <a:t>  cycle 5           - Run 5 verification cycles</a:t>
            </a:r>
          </a:p>
          <a:p>
            <a:pPr>
              <a:spcAft>
                <a:spcPts val="1200"/>
              </a:spcAft>
              <a:defRPr sz="2000"/>
            </a:pPr>
            <a:r>
              <a:t>  report            - Generate final report</a:t>
            </a:r>
          </a:p>
          <a:p>
            <a:pPr>
              <a:spcAft>
                <a:spcPts val="1200"/>
              </a:spcAft>
              <a:defRPr sz="2000"/>
            </a:pPr>
            <a:r>
              <a:t>  hypo add H8 '...' - Add new hypothesis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/>
            </a:pPr>
            <a:r>
              <a:t>• Multi-Agent System provides:</a:t>
            </a:r>
          </a:p>
          <a:p>
            <a:pPr>
              <a:spcAft>
                <a:spcPts val="1200"/>
              </a:spcAft>
              <a:defRPr sz="2000"/>
            </a:pPr>
            <a:r>
              <a:t>  - Parallel analysis for faster insights</a:t>
            </a:r>
          </a:p>
          <a:p>
            <a:pPr>
              <a:spcAft>
                <a:spcPts val="1200"/>
              </a:spcAft>
              <a:defRPr sz="2000"/>
            </a:pPr>
            <a:r>
              <a:t>  - Specialized agents for different tasks</a:t>
            </a:r>
          </a:p>
          <a:p>
            <a:pPr>
              <a:spcAft>
                <a:spcPts val="1200"/>
              </a:spcAft>
              <a:defRPr sz="2000"/>
            </a:pPr>
            <a:r>
              <a:t>  - Hypothesis-driven experimentation</a:t>
            </a:r>
          </a:p>
          <a:p>
            <a:pPr>
              <a:spcAft>
                <a:spcPts val="1200"/>
              </a:spcAft>
              <a:defRPr sz="2000"/>
            </a:pPr>
            <a:r>
              <a:t>  - Automated report generation</a:t>
            </a:r>
          </a:p>
          <a:p>
            <a:pPr>
              <a:spcAft>
                <a:spcPts val="1200"/>
              </a:spcAft>
              <a:defRPr sz="2000"/>
            </a:pPr>
            <a:r>
              <a:t>• </a:t>
            </a:r>
          </a:p>
          <a:p>
            <a:pPr>
              <a:spcAft>
                <a:spcPts val="1200"/>
              </a:spcAft>
              <a:defRPr sz="2000"/>
            </a:pPr>
            <a:r>
              <a:t>• Results:</a:t>
            </a:r>
          </a:p>
          <a:p>
            <a:pPr>
              <a:spcAft>
                <a:spcPts val="1200"/>
              </a:spcAft>
              <a:defRPr sz="2000"/>
            </a:pPr>
            <a:r>
              <a:t>  - 104 experiments analyzed</a:t>
            </a:r>
          </a:p>
          <a:p>
            <a:pPr>
              <a:spcAft>
                <a:spcPts val="1200"/>
              </a:spcAft>
              <a:defRPr sz="2000"/>
            </a:pPr>
            <a:r>
              <a:t>  - 6 hypotheses tracked</a:t>
            </a:r>
          </a:p>
          <a:p>
            <a:pPr>
              <a:spcAft>
                <a:spcPts val="1200"/>
              </a:spcAft>
              <a:defRPr sz="2000"/>
            </a:pPr>
            <a:r>
              <a:t>  - 2 hypotheses confirmed, 1 rejected</a:t>
            </a:r>
          </a:p>
          <a:p>
            <a:pPr>
              <a:spcAft>
                <a:spcPts val="1200"/>
              </a:spcAft>
              <a:defRPr sz="2000"/>
            </a:pPr>
            <a:r>
              <a:t>• </a:t>
            </a:r>
          </a:p>
          <a:p>
            <a:pPr>
              <a:spcAft>
                <a:spcPts val="1200"/>
              </a:spcAft>
              <a:defRPr sz="2000"/>
            </a:pPr>
            <a:r>
              <a:t>• Future Work:</a:t>
            </a:r>
          </a:p>
          <a:p>
            <a:pPr>
              <a:spcAft>
                <a:spcPts val="1200"/>
              </a:spcAft>
              <a:defRPr sz="2000"/>
            </a:pPr>
            <a:r>
              <a:t>  - Add more specialized agents</a:t>
            </a:r>
          </a:p>
          <a:p>
            <a:pPr>
              <a:spcAft>
                <a:spcPts val="1200"/>
              </a:spcAft>
              <a:defRPr sz="2000"/>
            </a:pPr>
            <a:r>
              <a:t>  - Implement adaptive experiment selection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